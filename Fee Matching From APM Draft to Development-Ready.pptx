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thesis: the draft treated "we matched a name" or "a student uploaded a screenshot" as "the fee is paid". Everything in this deck follows from separating five states. Mention up front that the logic is not only on slides: there is a working prototype and a C# application with server-side permissions, and every one of the nine sample payments runs through it. Likely question: why not just trust UPI screenshots to speed things up? Answer: a screenshot can show a failed, pending or edited payment; it is kept as evidence and linked automatically when the bank line arrives, so it speeds investigation without ever moving a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categories as the brief asked; 15 gaps in total, 11 must close before engineering starts because they change the data model, the integration contract or the financial controls. The four that can wait (student dispute path, payment before registration, dashboard reporting, the timeline claim) are needed before UAT, not before build. Lead with the two that would cost money: name fallback (R Mehta in P2 would be auto-assigned to Rohan) and receipt at match time (receipts for unverified, duplicate or wrong money). Likely question: which single gap is most dangerous? Answer: treating a screenshot or name as proof, because it moves balances and issues receipts with no money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scope line I would defend: automation only where the outcome is deterministic and reversible by audit trail. Fee component allocation stays human until Finance approves an order (AA-1); it is a switch, not code. The MVP keeps the student-management system as master for students and balances; this tool owns the reconciliation workflow and writes postings to it. Likely question: will this really cut manual work? Answer: P1 and P3 (explicit ID) and P4 (duplicate) need no investigation at all; the queue gives the rest evidence and an owner. I would baseline last month's unmatched count before promising a percentage.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money must be verified before anyone can match or allocate it; allocation is proposed by Operations and approved by a different Finance approver before anything posts. The two teal cells are the control points that stop money being invented: Finance verifying cash or importing the bank feed, and Finance approving someone else's proposal. Admin is deliberately off the money path: they manage roles and policy only, with every change audited. Likely question: what if Finance is busy and approvals pile up? Answer: the queue shows awaiting-approval count and age; thresholds for single approval on small amounts are a Finance policy decision (A-05), not something I would build in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Automatic: P1 and P3 match on an explicit student ID, P4 is blocked at import. Nothing posts automatically, though, because the brief never says which fee component the money is for, and I will not infer admission versus tuition. P6 is one source transaction with two allocation lines, approved together so we never half-post a split. P8 never edits P3: it is a linked negative entry and the receipt shows the adjustment. What would conclude the open ones: for P2 and P9, remittance advice or a guardian confirmation from a registered number; for P5, the receipt-book number plus a deposit slip matched to the bank statement; for P7, the bank line with that UTR. Likely question: why not auto-allocate P9 since the name is exact? Answer: names are not unique and parents share names; a wrong allocation costs a correction, a refund conversation and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rules are the answer to "how are incorrect balances and duplicate receipts prevented". A balance is fee due minus posted ledger entries only; claims, cash reports and proposals never touch it. The equation is the single control Finance can check every morning, and it is exported in the reconciliation CSV. The two-person rule is by individual user, not by role, so one Finance approver cannot approve and then quietly reverse an allocation. Likely question: what happens when two reviewers allocate the same money at once? Answer: the payment carries a version; the second edit is rejected, and approval re-checks the free amount. In a race test, 20 simultaneous attempts on one ₹25,000 payment produced exactly one posting and one receipt.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the wireframes as working screens so the panel can test the logic instead of reading about it. Screen 1 is the operations dashboard: every row shows what is missing and who owns the next step. Screen 2 is what a student sees: only recognised payments reduce the balance; their screenshot claim sits apart as under review, and the P8 reversal shows as an adjustment, not an edit. Screen 3 is where an investigator works: buttons are disabled with the reason whenever a permission, verification or amount check fails. Offer to demo live: open P6, propose the split as Operations, try to approve as the same person, then approve as Finance.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design choice: the APM draft had one "status" field doing five jobs. I split it into one state machine per question, so "we know who paid" can never be confused with "the money is on the ledger". The entities are the minimum to answer an audit query: who decided, on what evidence, and what changed. The six open decisions are policy, not engineering; I have defaulted each to the safe option in the build (for example, no automatic fee component) so engineering is not blocked while Finance decides. Likely question: why not let Admin approve in a pinch? Answer: anyone who can change roles and also move money can grant themselves anything; keeping Admin off the money path is the cheapest control we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bring these five questions to the first engineering session rather than answer them myself; each one changes the architecture. Question 1 decides how strong our duplicate rule can be. Question 2 decides whether retries are safe end to end, not just inside our tool. The test numbers are from the working prototype: they prove the rules hold, including when 20 requests hit the same payment at once, and QA can rerun them. I would be clear that the prototype is not the production system. Likely question: what would you cut if engineering says four weeks? Answer: the student-facing claim screen and cases; the bank import, matching, approval and posting are the irreducible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APM, I start with what is genuinely good so the corrections land, and I give the work back rather than rewriting it: they rewrite the four unresolved payments themselves, against the evidence standard. What I keep is the part that needs seniority: the control model and getting Finance to own policy. The founder update is illustrative: it is the shape I would send on a Thursday. Amber, because the build is on track but the launch depends on a decision only the founder can unblock quickly. Two asks, each answerable in a line. Virtual accounts are the strategic fix: if every student pays into a unique account number, P2 and P9 stop existing. Close by inviting questions or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2F5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22221"/>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34"/>
            <a:ext cx="10566400" cy="4191066"/>
          </a:xfrm>
          <a:prstGeom prst="rect">
            <a:avLst/>
          </a:prstGeom>
          <a:noFill/>
          <a:ln/>
        </p:spPr>
        <p:txBody>
          <a:bodyPr wrap="square" lIns="0" tIns="0" rIns="0" bIns="0" rtlCol="0" anchor="t"/>
          <a:lstStyle>
            <a:lvl1pPr algn="l" indent="0" marL="0">
              <a:lnSpc>
                <a:spcPct val="140000"/>
              </a:lnSpc>
              <a:buNone/>
              <a:defRPr lang="en-US" sz="1600" dirty="0">
                <a:solidFill>
                  <a:srgbClr val="122221"/>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5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22221"/>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34"/>
            <a:ext cx="10566400" cy="4191066"/>
          </a:xfrm>
          <a:prstGeom prst="rect">
            <a:avLst/>
          </a:prstGeom>
          <a:noFill/>
          <a:ln/>
        </p:spPr>
        <p:txBody>
          <a:bodyPr wrap="square" lIns="0" tIns="0" rIns="0" bIns="0" rtlCol="0" anchor="t"/>
          <a:lstStyle>
            <a:lvl1pPr algn="l" indent="0" marL="0">
              <a:lnSpc>
                <a:spcPct val="140000"/>
              </a:lnSpc>
              <a:buNone/>
              <a:defRPr lang="en-US" sz="1600" dirty="0">
                <a:solidFill>
                  <a:srgbClr val="122221"/>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221"/>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55BDB6"/>
                </a:solidFill>
                <a:latin typeface="IBM Plex Sans" pitchFamily="34" charset="0"/>
                <a:ea typeface="IBM Plex Sans" pitchFamily="34" charset="-122"/>
                <a:cs typeface="IBM Plex Sans" pitchFamily="34" charset="-120"/>
              </a:rPr>
              <a:t>PRODUCT MANAGER ASSIGNMENT · INTELLIPAAT</a:t>
            </a:r>
            <a:endParaRPr lang="en-US" sz="1400" dirty="0"/>
          </a:p>
        </p:txBody>
      </p:sp>
      <p:sp>
        <p:nvSpPr>
          <p:cNvPr id="3" name="Text 1"/>
          <p:cNvSpPr/>
          <p:nvPr>
            <p:ph type="title"/>
          </p:nvPr>
        </p:nvSpPr>
        <p:spPr>
          <a:xfrm>
            <a:off x="812800" y="1239507"/>
            <a:ext cx="9810750" cy="2000448"/>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2F7F6"/>
                </a:solidFill>
                <a:latin typeface="IBM Plex Sans" pitchFamily="34" charset="0"/>
                <a:ea typeface="IBM Plex Sans" pitchFamily="34" charset="-122"/>
                <a:cs typeface="IBM Plex Sans" pitchFamily="34" charset="-120"/>
              </a:rPr>
              <a:t>Fee matching: from an APM draft to a feature engineering can build</a:t>
            </a:r>
            <a:endParaRPr lang="en-US" sz="4800" dirty="0"/>
          </a:p>
        </p:txBody>
      </p:sp>
      <p:sp>
        <p:nvSpPr>
          <p:cNvPr id="4" name="Shape 2"/>
          <p:cNvSpPr/>
          <p:nvPr/>
        </p:nvSpPr>
        <p:spPr>
          <a:xfrm>
            <a:off x="812800" y="3838046"/>
            <a:ext cx="3386667" cy="2003954"/>
          </a:xfrm>
          <a:prstGeom prst="roundRect">
            <a:avLst>
              <a:gd name="adj" fmla="val 5070"/>
            </a:avLst>
          </a:prstGeom>
          <a:solidFill>
            <a:srgbClr val="1B302F"/>
          </a:solidFill>
          <a:ln/>
        </p:spPr>
      </p:sp>
      <p:sp>
        <p:nvSpPr>
          <p:cNvPr id="5" name="Text 3"/>
          <p:cNvSpPr/>
          <p:nvPr/>
        </p:nvSpPr>
        <p:spPr>
          <a:xfrm>
            <a:off x="1041400" y="4066646"/>
            <a:ext cx="301735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5BDB6"/>
                </a:solidFill>
                <a:latin typeface="IBM Plex Sans" pitchFamily="34" charset="0"/>
                <a:ea typeface="IBM Plex Sans" pitchFamily="34" charset="-122"/>
                <a:cs typeface="IBM Plex Sans" pitchFamily="34" charset="-120"/>
              </a:rPr>
              <a:t>PROBLEM</a:t>
            </a:r>
            <a:endParaRPr lang="en-US" sz="1200" dirty="0"/>
          </a:p>
        </p:txBody>
      </p:sp>
      <p:sp>
        <p:nvSpPr>
          <p:cNvPr id="6" name="Text 4"/>
          <p:cNvSpPr/>
          <p:nvPr/>
        </p:nvSpPr>
        <p:spPr>
          <a:xfrm>
            <a:off x="1041400" y="4368866"/>
            <a:ext cx="3017351" cy="126993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3E2E0"/>
                </a:solidFill>
                <a:latin typeface="IBM Plex Sans" pitchFamily="34" charset="0"/>
                <a:ea typeface="IBM Plex Sans" pitchFamily="34" charset="-122"/>
                <a:cs typeface="IBM Plex Sans" pitchFamily="34" charset="-120"/>
              </a:rPr>
              <a:t>Parents and friends pay, one transfer covers two students, and screenshots stand in for bank proof. Money sits unmatched and receipts go wrong.</a:t>
            </a:r>
            <a:endParaRPr lang="en-US" sz="1400" dirty="0"/>
          </a:p>
        </p:txBody>
      </p:sp>
      <p:sp>
        <p:nvSpPr>
          <p:cNvPr id="7" name="Shape 5"/>
          <p:cNvSpPr/>
          <p:nvPr/>
        </p:nvSpPr>
        <p:spPr>
          <a:xfrm>
            <a:off x="4402667" y="3838046"/>
            <a:ext cx="3386667" cy="2003954"/>
          </a:xfrm>
          <a:prstGeom prst="roundRect">
            <a:avLst>
              <a:gd name="adj" fmla="val 5070"/>
            </a:avLst>
          </a:prstGeom>
          <a:solidFill>
            <a:srgbClr val="1B302F"/>
          </a:solidFill>
          <a:ln/>
        </p:spPr>
      </p:sp>
      <p:sp>
        <p:nvSpPr>
          <p:cNvPr id="8" name="Text 6"/>
          <p:cNvSpPr/>
          <p:nvPr/>
        </p:nvSpPr>
        <p:spPr>
          <a:xfrm>
            <a:off x="4631267" y="4066646"/>
            <a:ext cx="301735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5BDB6"/>
                </a:solidFill>
                <a:latin typeface="IBM Plex Sans" pitchFamily="34" charset="0"/>
                <a:ea typeface="IBM Plex Sans" pitchFamily="34" charset="-122"/>
                <a:cs typeface="IBM Plex Sans" pitchFamily="34" charset="-120"/>
              </a:rPr>
              <a:t>SOLUTION</a:t>
            </a:r>
            <a:endParaRPr lang="en-US" sz="1200" dirty="0"/>
          </a:p>
        </p:txBody>
      </p:sp>
      <p:sp>
        <p:nvSpPr>
          <p:cNvPr id="9" name="Text 7"/>
          <p:cNvSpPr/>
          <p:nvPr/>
        </p:nvSpPr>
        <p:spPr>
          <a:xfrm>
            <a:off x="4631267" y="4368866"/>
            <a:ext cx="3017351" cy="126993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3E2E0"/>
                </a:solidFill>
                <a:latin typeface="IBM Plex Sans" pitchFamily="34" charset="0"/>
                <a:ea typeface="IBM Plex Sans" pitchFamily="34" charset="-122"/>
                <a:cs typeface="IBM Plex Sans" pitchFamily="34" charset="-120"/>
              </a:rPr>
              <a:t>Automate only certain matches. Route the rest to evidence-based review, approved by a second person, posted once, receipted once.</a:t>
            </a:r>
            <a:endParaRPr lang="en-US" sz="1400" dirty="0"/>
          </a:p>
        </p:txBody>
      </p:sp>
      <p:sp>
        <p:nvSpPr>
          <p:cNvPr id="10" name="Shape 8"/>
          <p:cNvSpPr/>
          <p:nvPr/>
        </p:nvSpPr>
        <p:spPr>
          <a:xfrm>
            <a:off x="7992534" y="3838046"/>
            <a:ext cx="3386667" cy="2003954"/>
          </a:xfrm>
          <a:prstGeom prst="roundRect">
            <a:avLst>
              <a:gd name="adj" fmla="val 5070"/>
            </a:avLst>
          </a:prstGeom>
          <a:solidFill>
            <a:srgbClr val="0A6866"/>
          </a:solidFill>
          <a:ln/>
        </p:spPr>
      </p:sp>
      <p:sp>
        <p:nvSpPr>
          <p:cNvPr id="11" name="Text 9"/>
          <p:cNvSpPr/>
          <p:nvPr/>
        </p:nvSpPr>
        <p:spPr>
          <a:xfrm>
            <a:off x="8221134" y="4066646"/>
            <a:ext cx="301735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DEEEB"/>
                </a:solidFill>
                <a:latin typeface="IBM Plex Sans" pitchFamily="34" charset="0"/>
                <a:ea typeface="IBM Plex Sans" pitchFamily="34" charset="-122"/>
                <a:cs typeface="IBM Plex Sans" pitchFamily="34" charset="-120"/>
              </a:rPr>
              <a:t>CONTROL PRINCIPLE</a:t>
            </a:r>
            <a:endParaRPr lang="en-US" sz="1200" dirty="0"/>
          </a:p>
        </p:txBody>
      </p:sp>
      <p:sp>
        <p:nvSpPr>
          <p:cNvPr id="12" name="Text 10"/>
          <p:cNvSpPr/>
          <p:nvPr/>
        </p:nvSpPr>
        <p:spPr>
          <a:xfrm>
            <a:off x="8221134" y="4368866"/>
            <a:ext cx="3017351" cy="102102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7F6"/>
                </a:solidFill>
                <a:latin typeface="IBM Plex Sans" pitchFamily="34" charset="0"/>
                <a:ea typeface="IBM Plex Sans" pitchFamily="34" charset="-122"/>
                <a:cs typeface="IBM Plex Sans" pitchFamily="34" charset="-120"/>
              </a:rPr>
              <a:t>Verified, matched, allocated, posted and receipted are five separate states. A name or a screenshot never proves money arrived.</a:t>
            </a:r>
            <a:endParaRPr lang="en-US" sz="14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AA8"/>
                </a:solidFill>
                <a:latin typeface="IBM Plex Sans" pitchFamily="34" charset="0"/>
                <a:ea typeface="IBM Plex Sans" pitchFamily="34" charset="-122"/>
                <a:cs typeface="IBM Plex Sans" pitchFamily="34" charset="-120"/>
              </a:rPr>
              <a:t>Yasin Jariwala · AVP – Product Management · 27 October 2026 · with a working C# prototype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A6866"/>
                </a:solidFill>
                <a:latin typeface="IBM Plex Sans" pitchFamily="34" charset="0"/>
                <a:ea typeface="IBM Plex Sans" pitchFamily="34" charset="-122"/>
                <a:cs typeface="IBM Plex Sans" pitchFamily="34" charset="-120"/>
              </a:rPr>
              <a:t>GAP ANALYSIS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221"/>
                </a:solidFill>
                <a:latin typeface="IBM Plex Sans" pitchFamily="34" charset="0"/>
                <a:ea typeface="IBM Plex Sans" pitchFamily="34" charset="-122"/>
                <a:cs typeface="IBM Plex Sans" pitchFamily="34" charset="-120"/>
              </a:rPr>
              <a:t>The APM draft would post money it has not seen</a:t>
            </a:r>
            <a:endParaRPr lang="en-US" sz="3200" dirty="0"/>
          </a:p>
        </p:txBody>
      </p:sp>
      <p:sp>
        <p:nvSpPr>
          <p:cNvPr id="4" name="Shape 2"/>
          <p:cNvSpPr/>
          <p:nvPr/>
        </p:nvSpPr>
        <p:spPr>
          <a:xfrm>
            <a:off x="815975" y="1806509"/>
            <a:ext cx="3414183" cy="1287198"/>
          </a:xfrm>
          <a:prstGeom prst="roundRect">
            <a:avLst>
              <a:gd name="adj" fmla="val 6660"/>
            </a:avLst>
          </a:prstGeom>
          <a:solidFill>
            <a:srgbClr val="FBFCFC"/>
          </a:solidFill>
          <a:ln w="6350">
            <a:solidFill>
              <a:srgbClr val="D4DEDE"/>
            </a:solidFill>
            <a:prstDash val="solid"/>
          </a:ln>
        </p:spPr>
      </p:sp>
      <p:sp>
        <p:nvSpPr>
          <p:cNvPr id="5" name="Text 3"/>
          <p:cNvSpPr/>
          <p:nvPr/>
        </p:nvSpPr>
        <p:spPr>
          <a:xfrm>
            <a:off x="1020233" y="1985367"/>
            <a:ext cx="309583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6866"/>
                </a:solidFill>
                <a:latin typeface="IBM Plex Sans" pitchFamily="34" charset="0"/>
                <a:ea typeface="IBM Plex Sans" pitchFamily="34" charset="-122"/>
                <a:cs typeface="IBM Plex Sans" pitchFamily="34" charset="-120"/>
              </a:rPr>
              <a:t>Business rules</a:t>
            </a:r>
            <a:endParaRPr lang="en-US" sz="1400" dirty="0"/>
          </a:p>
        </p:txBody>
      </p:sp>
      <p:sp>
        <p:nvSpPr>
          <p:cNvPr id="6" name="Text 4"/>
          <p:cNvSpPr/>
          <p:nvPr/>
        </p:nvSpPr>
        <p:spPr>
          <a:xfrm>
            <a:off x="1119039" y="2274888"/>
            <a:ext cx="2989411" cy="66536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3D5150"/>
                </a:solidFill>
                <a:latin typeface="IBM Plex Sans" pitchFamily="34" charset="0"/>
                <a:ea typeface="IBM Plex Sans" pitchFamily="34" charset="-122"/>
                <a:cs typeface="IBM Plex Sans" pitchFamily="34" charset="-120"/>
              </a:rPr>
              <a:t>No definition of verified money</a:t>
            </a:r>
            <a:endParaRPr lang="en-US" sz="1200" dirty="0"/>
          </a:p>
          <a:p>
            <a:pPr algn="l" marL="155194" indent="-155194">
              <a:lnSpc>
                <a:spcPts val="1680"/>
              </a:lnSpc>
              <a:buSzPct val="100000"/>
              <a:buChar char="•"/>
            </a:pPr>
            <a:r>
              <a:rPr lang="en-US" sz="1200" dirty="0">
                <a:solidFill>
                  <a:srgbClr val="3D5150"/>
                </a:solidFill>
                <a:latin typeface="IBM Plex Sans" pitchFamily="34" charset="0"/>
                <a:ea typeface="IBM Plex Sans" pitchFamily="34" charset="-122"/>
                <a:cs typeface="IBM Plex Sans" pitchFamily="34" charset="-120"/>
              </a:rPr>
              <a:t>Name fallback treated as a match</a:t>
            </a:r>
            <a:endParaRPr lang="en-US" sz="1200" dirty="0"/>
          </a:p>
          <a:p>
            <a:pPr algn="l" marL="155194" indent="-155194">
              <a:lnSpc>
                <a:spcPts val="1680"/>
              </a:lnSpc>
              <a:buSzPct val="100000"/>
              <a:buChar char="•"/>
            </a:pPr>
            <a:r>
              <a:rPr lang="en-US" sz="1200" dirty="0">
                <a:solidFill>
                  <a:srgbClr val="3D5150"/>
                </a:solidFill>
                <a:latin typeface="IBM Plex Sans" pitchFamily="34" charset="0"/>
                <a:ea typeface="IBM Plex Sans" pitchFamily="34" charset="-122"/>
                <a:cs typeface="IBM Plex Sans" pitchFamily="34" charset="-120"/>
              </a:rPr>
              <a:t>No fee-component or split rule</a:t>
            </a:r>
            <a:endParaRPr lang="en-US" sz="1200" dirty="0"/>
          </a:p>
        </p:txBody>
      </p:sp>
      <p:sp>
        <p:nvSpPr>
          <p:cNvPr id="7" name="Shape 5"/>
          <p:cNvSpPr/>
          <p:nvPr/>
        </p:nvSpPr>
        <p:spPr>
          <a:xfrm>
            <a:off x="4388908" y="1806509"/>
            <a:ext cx="3414183" cy="1287198"/>
          </a:xfrm>
          <a:prstGeom prst="roundRect">
            <a:avLst>
              <a:gd name="adj" fmla="val 6660"/>
            </a:avLst>
          </a:prstGeom>
          <a:solidFill>
            <a:srgbClr val="FBFCFC"/>
          </a:solidFill>
          <a:ln w="6350">
            <a:solidFill>
              <a:srgbClr val="D4DEDE"/>
            </a:solidFill>
            <a:prstDash val="solid"/>
          </a:ln>
        </p:spPr>
      </p:sp>
      <p:sp>
        <p:nvSpPr>
          <p:cNvPr id="8" name="Text 6"/>
          <p:cNvSpPr/>
          <p:nvPr/>
        </p:nvSpPr>
        <p:spPr>
          <a:xfrm>
            <a:off x="4593167" y="1985367"/>
            <a:ext cx="309583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6866"/>
                </a:solidFill>
                <a:latin typeface="IBM Plex Sans" pitchFamily="34" charset="0"/>
                <a:ea typeface="IBM Plex Sans" pitchFamily="34" charset="-122"/>
                <a:cs typeface="IBM Plex Sans" pitchFamily="34" charset="-120"/>
              </a:rPr>
              <a:t>User journeys</a:t>
            </a:r>
            <a:endParaRPr lang="en-US" sz="1400" dirty="0"/>
          </a:p>
        </p:txBody>
      </p:sp>
      <p:sp>
        <p:nvSpPr>
          <p:cNvPr id="9" name="Text 7"/>
          <p:cNvSpPr/>
          <p:nvPr/>
        </p:nvSpPr>
        <p:spPr>
          <a:xfrm>
            <a:off x="4691973" y="2274888"/>
            <a:ext cx="2989411" cy="45204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3D5150"/>
                </a:solidFill>
                <a:latin typeface="IBM Plex Sans" pitchFamily="34" charset="0"/>
                <a:ea typeface="IBM Plex Sans" pitchFamily="34" charset="-122"/>
                <a:cs typeface="IBM Plex Sans" pitchFamily="34" charset="-120"/>
              </a:rPr>
              <a:t>No Finance or Admin journey</a:t>
            </a:r>
            <a:endParaRPr lang="en-US" sz="1200" dirty="0"/>
          </a:p>
          <a:p>
            <a:pPr algn="l" marL="155194" indent="-155194">
              <a:lnSpc>
                <a:spcPts val="1680"/>
              </a:lnSpc>
              <a:buSzPct val="100000"/>
              <a:buChar char="•"/>
            </a:pPr>
            <a:r>
              <a:rPr lang="en-US" sz="1200" dirty="0">
                <a:solidFill>
                  <a:srgbClr val="3D5150"/>
                </a:solidFill>
                <a:latin typeface="IBM Plex Sans" pitchFamily="34" charset="0"/>
                <a:ea typeface="IBM Plex Sans" pitchFamily="34" charset="-122"/>
                <a:cs typeface="IBM Plex Sans" pitchFamily="34" charset="-120"/>
              </a:rPr>
              <a:t>No student dispute or receipt path</a:t>
            </a:r>
            <a:endParaRPr lang="en-US" sz="1200" dirty="0"/>
          </a:p>
        </p:txBody>
      </p:sp>
      <p:sp>
        <p:nvSpPr>
          <p:cNvPr id="10" name="Shape 8"/>
          <p:cNvSpPr/>
          <p:nvPr/>
        </p:nvSpPr>
        <p:spPr>
          <a:xfrm>
            <a:off x="7961842" y="1806509"/>
            <a:ext cx="3414183" cy="1287198"/>
          </a:xfrm>
          <a:prstGeom prst="roundRect">
            <a:avLst>
              <a:gd name="adj" fmla="val 6660"/>
            </a:avLst>
          </a:prstGeom>
          <a:solidFill>
            <a:srgbClr val="FBFCFC"/>
          </a:solidFill>
          <a:ln w="6350">
            <a:solidFill>
              <a:srgbClr val="D4DEDE"/>
            </a:solidFill>
            <a:prstDash val="solid"/>
          </a:ln>
        </p:spPr>
      </p:sp>
      <p:sp>
        <p:nvSpPr>
          <p:cNvPr id="11" name="Text 9"/>
          <p:cNvSpPr/>
          <p:nvPr/>
        </p:nvSpPr>
        <p:spPr>
          <a:xfrm>
            <a:off x="8166100" y="1985367"/>
            <a:ext cx="309583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6866"/>
                </a:solidFill>
                <a:latin typeface="IBM Plex Sans" pitchFamily="34" charset="0"/>
                <a:ea typeface="IBM Plex Sans" pitchFamily="34" charset="-122"/>
                <a:cs typeface="IBM Plex Sans" pitchFamily="34" charset="-120"/>
              </a:rPr>
              <a:t>Technical and integration</a:t>
            </a:r>
            <a:endParaRPr lang="en-US" sz="1400" dirty="0"/>
          </a:p>
        </p:txBody>
      </p:sp>
      <p:sp>
        <p:nvSpPr>
          <p:cNvPr id="12" name="Text 10"/>
          <p:cNvSpPr/>
          <p:nvPr/>
        </p:nvSpPr>
        <p:spPr>
          <a:xfrm>
            <a:off x="8264906" y="2274888"/>
            <a:ext cx="2989411" cy="45204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3D5150"/>
                </a:solidFill>
                <a:latin typeface="IBM Plex Sans" pitchFamily="34" charset="0"/>
                <a:ea typeface="IBM Plex Sans" pitchFamily="34" charset="-122"/>
                <a:cs typeface="IBM Plex Sans" pitchFamily="34" charset="-120"/>
              </a:rPr>
              <a:t>Bank feed and write-back unspecified</a:t>
            </a:r>
            <a:endParaRPr lang="en-US" sz="1200" dirty="0"/>
          </a:p>
          <a:p>
            <a:pPr algn="l" marL="155194" indent="-155194">
              <a:lnSpc>
                <a:spcPts val="1680"/>
              </a:lnSpc>
              <a:buSzPct val="100000"/>
              <a:buChar char="•"/>
            </a:pPr>
            <a:r>
              <a:rPr lang="en-US" sz="1200" dirty="0">
                <a:solidFill>
                  <a:srgbClr val="3D5150"/>
                </a:solidFill>
                <a:latin typeface="IBM Plex Sans" pitchFamily="34" charset="0"/>
                <a:ea typeface="IBM Plex Sans" pitchFamily="34" charset="-122"/>
                <a:cs typeface="IBM Plex Sans" pitchFamily="34" charset="-120"/>
              </a:rPr>
              <a:t>No duplicate or retry protection</a:t>
            </a:r>
            <a:endParaRPr lang="en-US" sz="1200" dirty="0"/>
          </a:p>
        </p:txBody>
      </p:sp>
      <p:sp>
        <p:nvSpPr>
          <p:cNvPr id="13" name="Shape 11"/>
          <p:cNvSpPr/>
          <p:nvPr/>
        </p:nvSpPr>
        <p:spPr>
          <a:xfrm>
            <a:off x="815975" y="3252457"/>
            <a:ext cx="3414183" cy="1287198"/>
          </a:xfrm>
          <a:prstGeom prst="roundRect">
            <a:avLst>
              <a:gd name="adj" fmla="val 6660"/>
            </a:avLst>
          </a:prstGeom>
          <a:solidFill>
            <a:srgbClr val="FBFCFC"/>
          </a:solidFill>
          <a:ln w="6350">
            <a:solidFill>
              <a:srgbClr val="D4DEDE"/>
            </a:solidFill>
            <a:prstDash val="solid"/>
          </a:ln>
        </p:spPr>
      </p:sp>
      <p:sp>
        <p:nvSpPr>
          <p:cNvPr id="14" name="Text 12"/>
          <p:cNvSpPr/>
          <p:nvPr/>
        </p:nvSpPr>
        <p:spPr>
          <a:xfrm>
            <a:off x="1020233" y="3431315"/>
            <a:ext cx="309583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6866"/>
                </a:solidFill>
                <a:latin typeface="IBM Plex Sans" pitchFamily="34" charset="0"/>
                <a:ea typeface="IBM Plex Sans" pitchFamily="34" charset="-122"/>
                <a:cs typeface="IBM Plex Sans" pitchFamily="34" charset="-120"/>
              </a:rPr>
              <a:t>Financial control</a:t>
            </a:r>
            <a:endParaRPr lang="en-US" sz="1400" dirty="0"/>
          </a:p>
        </p:txBody>
      </p:sp>
      <p:sp>
        <p:nvSpPr>
          <p:cNvPr id="15" name="Text 13"/>
          <p:cNvSpPr/>
          <p:nvPr/>
        </p:nvSpPr>
        <p:spPr>
          <a:xfrm>
            <a:off x="1119039" y="3720836"/>
            <a:ext cx="2989411" cy="66536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3D5150"/>
                </a:solidFill>
                <a:latin typeface="IBM Plex Sans" pitchFamily="34" charset="0"/>
                <a:ea typeface="IBM Plex Sans" pitchFamily="34" charset="-122"/>
                <a:cs typeface="IBM Plex Sans" pitchFamily="34" charset="-120"/>
              </a:rPr>
              <a:t>Counsellors edit payments, unchecked</a:t>
            </a:r>
            <a:endParaRPr lang="en-US" sz="1200" dirty="0"/>
          </a:p>
          <a:p>
            <a:pPr algn="l" marL="155194" indent="-155194">
              <a:lnSpc>
                <a:spcPts val="1680"/>
              </a:lnSpc>
              <a:buSzPct val="100000"/>
              <a:buChar char="•"/>
            </a:pPr>
            <a:r>
              <a:rPr lang="en-US" sz="1200" dirty="0">
                <a:solidFill>
                  <a:srgbClr val="3D5150"/>
                </a:solidFill>
                <a:latin typeface="IBM Plex Sans" pitchFamily="34" charset="0"/>
                <a:ea typeface="IBM Plex Sans" pitchFamily="34" charset="-122"/>
                <a:cs typeface="IBM Plex Sans" pitchFamily="34" charset="-120"/>
              </a:rPr>
              <a:t>Cash paid on counsellor’s word</a:t>
            </a:r>
            <a:endParaRPr lang="en-US" sz="1200" dirty="0"/>
          </a:p>
          <a:p>
            <a:pPr algn="l" marL="155194" indent="-155194">
              <a:lnSpc>
                <a:spcPts val="1680"/>
              </a:lnSpc>
              <a:buSzPct val="100000"/>
              <a:buChar char="•"/>
            </a:pPr>
            <a:r>
              <a:rPr lang="en-US" sz="1200" dirty="0">
                <a:solidFill>
                  <a:srgbClr val="3D5150"/>
                </a:solidFill>
                <a:latin typeface="IBM Plex Sans" pitchFamily="34" charset="0"/>
                <a:ea typeface="IBM Plex Sans" pitchFamily="34" charset="-122"/>
                <a:cs typeface="IBM Plex Sans" pitchFamily="34" charset="-120"/>
              </a:rPr>
              <a:t>Receipt issued at match time</a:t>
            </a:r>
            <a:endParaRPr lang="en-US" sz="1200" dirty="0"/>
          </a:p>
        </p:txBody>
      </p:sp>
      <p:sp>
        <p:nvSpPr>
          <p:cNvPr id="16" name="Shape 14"/>
          <p:cNvSpPr/>
          <p:nvPr/>
        </p:nvSpPr>
        <p:spPr>
          <a:xfrm>
            <a:off x="4388908" y="3252457"/>
            <a:ext cx="3414183" cy="1287198"/>
          </a:xfrm>
          <a:prstGeom prst="roundRect">
            <a:avLst>
              <a:gd name="adj" fmla="val 6660"/>
            </a:avLst>
          </a:prstGeom>
          <a:solidFill>
            <a:srgbClr val="FBFCFC"/>
          </a:solidFill>
          <a:ln w="6350">
            <a:solidFill>
              <a:srgbClr val="D4DEDE"/>
            </a:solidFill>
            <a:prstDash val="solid"/>
          </a:ln>
        </p:spPr>
      </p:sp>
      <p:sp>
        <p:nvSpPr>
          <p:cNvPr id="17" name="Text 15"/>
          <p:cNvSpPr/>
          <p:nvPr/>
        </p:nvSpPr>
        <p:spPr>
          <a:xfrm>
            <a:off x="4593167" y="3431315"/>
            <a:ext cx="309583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6866"/>
                </a:solidFill>
                <a:latin typeface="IBM Plex Sans" pitchFamily="34" charset="0"/>
                <a:ea typeface="IBM Plex Sans" pitchFamily="34" charset="-122"/>
                <a:cs typeface="IBM Plex Sans" pitchFamily="34" charset="-120"/>
              </a:rPr>
              <a:t>Exception handling</a:t>
            </a:r>
            <a:endParaRPr lang="en-US" sz="1400" dirty="0"/>
          </a:p>
        </p:txBody>
      </p:sp>
      <p:sp>
        <p:nvSpPr>
          <p:cNvPr id="18" name="Text 16"/>
          <p:cNvSpPr/>
          <p:nvPr/>
        </p:nvSpPr>
        <p:spPr>
          <a:xfrm>
            <a:off x="4691973" y="3720836"/>
            <a:ext cx="2989411" cy="66536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3D5150"/>
                </a:solidFill>
                <a:latin typeface="IBM Plex Sans" pitchFamily="34" charset="0"/>
                <a:ea typeface="IBM Plex Sans" pitchFamily="34" charset="-122"/>
                <a:cs typeface="IBM Plex Sans" pitchFamily="34" charset="-120"/>
              </a:rPr>
              <a:t>Reversals and refunds missing</a:t>
            </a:r>
            <a:endParaRPr lang="en-US" sz="1200" dirty="0"/>
          </a:p>
          <a:p>
            <a:pPr algn="l" marL="155194" indent="-155194">
              <a:lnSpc>
                <a:spcPts val="1680"/>
              </a:lnSpc>
              <a:buSzPct val="100000"/>
              <a:buChar char="•"/>
            </a:pPr>
            <a:r>
              <a:rPr lang="en-US" sz="1200" dirty="0">
                <a:solidFill>
                  <a:srgbClr val="3D5150"/>
                </a:solidFill>
                <a:latin typeface="IBM Plex Sans" pitchFamily="34" charset="0"/>
                <a:ea typeface="IBM Plex Sans" pitchFamily="34" charset="-122"/>
                <a:cs typeface="IBM Plex Sans" pitchFamily="34" charset="-120"/>
              </a:rPr>
              <a:t>Payment before registration</a:t>
            </a:r>
            <a:endParaRPr lang="en-US" sz="1200" dirty="0"/>
          </a:p>
          <a:p>
            <a:pPr algn="l" marL="155194" indent="-155194">
              <a:lnSpc>
                <a:spcPts val="1680"/>
              </a:lnSpc>
              <a:buSzPct val="100000"/>
              <a:buChar char="•"/>
            </a:pPr>
            <a:r>
              <a:rPr lang="en-US" sz="1200" dirty="0">
                <a:solidFill>
                  <a:srgbClr val="3D5150"/>
                </a:solidFill>
                <a:latin typeface="IBM Plex Sans" pitchFamily="34" charset="0"/>
                <a:ea typeface="IBM Plex Sans" pitchFamily="34" charset="-122"/>
                <a:cs typeface="IBM Plex Sans" pitchFamily="34" charset="-120"/>
              </a:rPr>
              <a:t>Partial and overpayments</a:t>
            </a:r>
            <a:endParaRPr lang="en-US" sz="1200" dirty="0"/>
          </a:p>
        </p:txBody>
      </p:sp>
      <p:sp>
        <p:nvSpPr>
          <p:cNvPr id="19" name="Shape 17"/>
          <p:cNvSpPr/>
          <p:nvPr/>
        </p:nvSpPr>
        <p:spPr>
          <a:xfrm>
            <a:off x="7961842" y="3252457"/>
            <a:ext cx="3414183" cy="1287198"/>
          </a:xfrm>
          <a:prstGeom prst="roundRect">
            <a:avLst>
              <a:gd name="adj" fmla="val 6660"/>
            </a:avLst>
          </a:prstGeom>
          <a:solidFill>
            <a:srgbClr val="FBFCFC"/>
          </a:solidFill>
          <a:ln w="6350">
            <a:solidFill>
              <a:srgbClr val="D4DEDE"/>
            </a:solidFill>
            <a:prstDash val="solid"/>
          </a:ln>
        </p:spPr>
      </p:sp>
      <p:sp>
        <p:nvSpPr>
          <p:cNvPr id="20" name="Text 18"/>
          <p:cNvSpPr/>
          <p:nvPr/>
        </p:nvSpPr>
        <p:spPr>
          <a:xfrm>
            <a:off x="8166100" y="3431315"/>
            <a:ext cx="309583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6866"/>
                </a:solidFill>
                <a:latin typeface="IBM Plex Sans" pitchFamily="34" charset="0"/>
                <a:ea typeface="IBM Plex Sans" pitchFamily="34" charset="-122"/>
                <a:cs typeface="IBM Plex Sans" pitchFamily="34" charset="-120"/>
              </a:rPr>
              <a:t>Usability and reporting</a:t>
            </a:r>
            <a:endParaRPr lang="en-US" sz="1400" dirty="0"/>
          </a:p>
        </p:txBody>
      </p:sp>
      <p:sp>
        <p:nvSpPr>
          <p:cNvPr id="21" name="Text 19"/>
          <p:cNvSpPr/>
          <p:nvPr/>
        </p:nvSpPr>
        <p:spPr>
          <a:xfrm>
            <a:off x="8264906" y="3720836"/>
            <a:ext cx="2989411" cy="66536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3D5150"/>
                </a:solidFill>
                <a:latin typeface="IBM Plex Sans" pitchFamily="34" charset="0"/>
                <a:ea typeface="IBM Plex Sans" pitchFamily="34" charset="-122"/>
                <a:cs typeface="IBM Plex Sans" pitchFamily="34" charset="-120"/>
              </a:rPr>
              <a:t>Dashboard cannot run operations</a:t>
            </a:r>
            <a:endParaRPr lang="en-US" sz="1200" dirty="0"/>
          </a:p>
          <a:p>
            <a:pPr algn="l" marL="155194" indent="-155194">
              <a:lnSpc>
                <a:spcPts val="1680"/>
              </a:lnSpc>
              <a:buSzPct val="100000"/>
              <a:buChar char="•"/>
            </a:pPr>
            <a:r>
              <a:rPr lang="en-US" sz="1200" dirty="0">
                <a:solidFill>
                  <a:srgbClr val="3D5150"/>
                </a:solidFill>
                <a:latin typeface="IBM Plex Sans" pitchFamily="34" charset="0"/>
                <a:ea typeface="IBM Plex Sans" pitchFamily="34" charset="-122"/>
                <a:cs typeface="IBM Plex Sans" pitchFamily="34" charset="-120"/>
              </a:rPr>
              <a:t>“Eliminate reconciliation in two weeks” has no baseline or estimate</a:t>
            </a:r>
            <a:endParaRPr lang="en-US" sz="1200" dirty="0"/>
          </a:p>
        </p:txBody>
      </p:sp>
      <p:sp>
        <p:nvSpPr>
          <p:cNvPr id="22" name="Text 20"/>
          <p:cNvSpPr/>
          <p:nvPr/>
        </p:nvSpPr>
        <p:spPr>
          <a:xfrm>
            <a:off x="812800" y="4796830"/>
            <a:ext cx="2330318" cy="650214"/>
          </a:xfrm>
          <a:custGeom>
            <a:avLst/>
            <a:gdLst/>
            <a:ahLst/>
            <a:cxnLst/>
            <a:rect l="l" t="t" r="r" b="b"/>
            <a:pathLst>
              <a:path w="2330318" h="650214">
                <a:moveTo>
                  <a:pt x="325107" y="0"/>
                </a:moveTo>
                <a:lnTo>
                  <a:pt x="2005211" y="0"/>
                </a:lnTo>
                <a:arcTo hR="325107" wR="325107" stAng="16200000" swAng="5400000"/>
                <a:lnTo>
                  <a:pt x="2330318" y="325107"/>
                </a:lnTo>
                <a:arcTo hR="325107" wR="325107" stAng="0" swAng="5400000"/>
                <a:lnTo>
                  <a:pt x="325107" y="650214"/>
                </a:lnTo>
                <a:arcTo hR="325107" wR="325107" stAng="5400000" swAng="5400000"/>
                <a:lnTo>
                  <a:pt x="0" y="325107"/>
                </a:lnTo>
                <a:arcTo hR="325107" wR="325107" stAng="10800000" swAng="5400000"/>
                <a:close/>
              </a:path>
            </a:pathLst>
          </a:custGeom>
          <a:solidFill>
            <a:srgbClr val="AD2A20"/>
          </a:solidFill>
          <a:ln/>
        </p:spPr>
        <p:txBody>
          <a:bodyPr wrap="square" lIns="152400" tIns="76200" rIns="91634" bIns="50800" rtlCol="0" anchor="t">
            <a:normAutofit/>
          </a:bodyPr>
          <a:lstStyle/>
          <a:p>
            <a:pPr algn="l" indent="0" marL="0">
              <a:lnSpc>
                <a:spcPts val="1960"/>
              </a:lnSpc>
              <a:buNone/>
            </a:pPr>
            <a:r>
              <a:rPr lang="en-US" sz="1400" b="1" dirty="0">
                <a:solidFill>
                  <a:srgbClr val="FBF3F2"/>
                </a:solidFill>
                <a:latin typeface="IBM Plex Sans" pitchFamily="34" charset="0"/>
                <a:ea typeface="IBM Plex Sans" pitchFamily="34" charset="-122"/>
                <a:cs typeface="IBM Plex Sans" pitchFamily="34" charset="-120"/>
              </a:rPr>
              <a:t>11 of 15 block engineering start</a:t>
            </a:r>
            <a:endParaRPr lang="en-US" sz="1400" dirty="0"/>
          </a:p>
        </p:txBody>
      </p:sp>
      <p:sp>
        <p:nvSpPr>
          <p:cNvPr id="23" name="Text 21"/>
          <p:cNvSpPr/>
          <p:nvPr/>
        </p:nvSpPr>
        <p:spPr>
          <a:xfrm>
            <a:off x="3295518" y="4890823"/>
            <a:ext cx="8326193"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5150"/>
                </a:solidFill>
                <a:latin typeface="IBM Plex Sans" pitchFamily="34" charset="0"/>
                <a:ea typeface="IBM Plex Sans" pitchFamily="34" charset="-122"/>
                <a:cs typeface="IBM Plex Sans" pitchFamily="34" charset="-120"/>
              </a:rPr>
              <a:t>Blockers: verification, matching precedence, fee components, splits, Finance roles, data source, idempotency, edits, cash, receipts, reversals.</a:t>
            </a:r>
            <a:endParaRPr lang="en-US" sz="1300" dirty="0"/>
          </a:p>
        </p:txBody>
      </p:sp>
      <p:sp>
        <p:nvSpPr>
          <p:cNvPr id="24" name="Text 2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D7C"/>
                </a:solidFill>
                <a:latin typeface="IBM Plex Sans" pitchFamily="34" charset="0"/>
                <a:ea typeface="IBM Plex Sans" pitchFamily="34" charset="-122"/>
                <a:cs typeface="IBM Plex Sans" pitchFamily="34" charset="-120"/>
              </a:rPr>
              <a:t>2 · Full table of 15 gaps with corrections in the prototype (Gap analysis page)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A6866"/>
                </a:solidFill>
                <a:latin typeface="IBM Plex Sans" pitchFamily="34" charset="0"/>
                <a:ea typeface="IBM Plex Sans" pitchFamily="34" charset="-122"/>
                <a:cs typeface="IBM Plex Sans" pitchFamily="34" charset="-120"/>
              </a:rPr>
              <a:t>PRODUCT SOLUTION AND MVP</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221"/>
                </a:solidFill>
                <a:latin typeface="IBM Plex Sans" pitchFamily="34" charset="0"/>
                <a:ea typeface="IBM Plex Sans" pitchFamily="34" charset="-122"/>
                <a:cs typeface="IBM Plex Sans" pitchFamily="34" charset="-120"/>
              </a:rPr>
              <a:t>Automate the certain, route the rest to evidence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5"/>
          <a:ext cx="5503201" cy="2635845"/>
        </p:xfrm>
        <a:graphic>
          <a:graphicData uri="http://schemas.openxmlformats.org/drawingml/2006/table">
            <a:tbl>
              <a:tblPr/>
              <a:tblGrid>
                <a:gridCol w="1430832"/>
                <a:gridCol w="4072369"/>
              </a:tblGrid>
              <a:tr h="332647">
                <a:tc>
                  <a:txBody>
                    <a:bodyPr/>
                    <a:lstStyle/>
                    <a:p>
                      <a:pPr indent="0" marL="0">
                        <a:lnSpc>
                          <a:spcPts val="1680"/>
                        </a:lnSpc>
                        <a:buNone/>
                      </a:pPr>
                      <a:r>
                        <a:rPr lang="en-US" sz="1200" b="1" dirty="0">
                          <a:solidFill>
                            <a:srgbClr val="122221"/>
                          </a:solidFill>
                          <a:latin typeface="IBM Plex Sans" pitchFamily="34" charset="0"/>
                          <a:ea typeface="IBM Plex Sans" pitchFamily="34" charset="-122"/>
                          <a:cs typeface="IBM Plex Sans" pitchFamily="34" charset="-120"/>
                        </a:rPr>
                        <a:t>User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B3B5B5"/>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B3B5B5"/>
                      </a:solidFill>
                      <a:prstDash val="solid"/>
                      <a:round/>
                      <a:headEnd type="none" w="med" len="med"/>
                      <a:tailEnd type="none" w="med" len="med"/>
                    </a:lnB>
                    <a:solidFill>
                      <a:srgbClr val="E0E3E3"/>
                    </a:solidFill>
                  </a:tcPr>
                </a:tc>
                <a:tc>
                  <a:txBody>
                    <a:bodyPr/>
                    <a:lstStyle/>
                    <a:p>
                      <a:pPr indent="0" marL="0">
                        <a:lnSpc>
                          <a:spcPts val="1680"/>
                        </a:lnSpc>
                        <a:buNone/>
                      </a:pPr>
                      <a:r>
                        <a:rPr lang="en-US" sz="1200" b="1" dirty="0">
                          <a:solidFill>
                            <a:srgbClr val="122221"/>
                          </a:solidFill>
                          <a:latin typeface="IBM Plex Sans" pitchFamily="34" charset="0"/>
                          <a:ea typeface="IBM Plex Sans" pitchFamily="34" charset="-122"/>
                          <a:cs typeface="IBM Plex Sans" pitchFamily="34" charset="-120"/>
                        </a:rPr>
                        <a:t>Needs to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3B5B5"/>
                      </a:solidFill>
                      <a:prstDash val="solid"/>
                      <a:round/>
                      <a:headEnd type="none" w="med" len="med"/>
                      <a:tailEnd type="none" w="med" len="med"/>
                    </a:lnL>
                    <a:lnR w="12700" cap="flat" cmpd="sng" algn="ctr">
                      <a:solidFill>
                        <a:srgbClr val="B3B5B5"/>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B3B5B5"/>
                      </a:solidFill>
                      <a:prstDash val="solid"/>
                      <a:round/>
                      <a:headEnd type="none" w="med" len="med"/>
                      <a:tailEnd type="none" w="med" len="med"/>
                    </a:lnB>
                    <a:solidFill>
                      <a:srgbClr val="E0E3E3"/>
                    </a:solidFill>
                  </a:tcPr>
                </a:tc>
              </a:tr>
              <a:tr h="545968">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Student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B3B5B5"/>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See what is recognised, report a payment, get a valid receipt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B3B5B5"/>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r>
              <a:tr h="545968">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Operations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Find the student behind each payment, with the evidence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Counsellor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Report cash with receipt-book and deposit proof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r>
              <a:tr h="545968">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Finance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Import the bank feed, approve, apply reversals, verify cash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Admin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Manage roles and policy; never move money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r>
            </a:tbl>
          </a:graphicData>
        </a:graphic>
      </p:graphicFrame>
      <p:sp>
        <p:nvSpPr>
          <p:cNvPr id="5" name="Shape 2"/>
          <p:cNvSpPr/>
          <p:nvPr/>
        </p:nvSpPr>
        <p:spPr>
          <a:xfrm>
            <a:off x="6582701" y="1803335"/>
            <a:ext cx="4796433" cy="1059061"/>
          </a:xfrm>
          <a:prstGeom prst="roundRect">
            <a:avLst>
              <a:gd name="adj" fmla="val 8394"/>
            </a:avLst>
          </a:prstGeom>
          <a:solidFill>
            <a:srgbClr val="DCEFEE"/>
          </a:solidFill>
          <a:ln/>
        </p:spPr>
      </p:sp>
      <p:sp>
        <p:nvSpPr>
          <p:cNvPr id="6" name="Text 3"/>
          <p:cNvSpPr/>
          <p:nvPr/>
        </p:nvSpPr>
        <p:spPr>
          <a:xfrm>
            <a:off x="6785901" y="1981135"/>
            <a:ext cx="452173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6866"/>
                </a:solidFill>
                <a:latin typeface="IBM Plex Sans" pitchFamily="34" charset="0"/>
                <a:ea typeface="IBM Plex Sans" pitchFamily="34" charset="-122"/>
                <a:cs typeface="IBM Plex Sans" pitchFamily="34" charset="-120"/>
              </a:rPr>
              <a:t>Automatic</a:t>
            </a:r>
            <a:endParaRPr lang="en-US" sz="1400" dirty="0"/>
          </a:p>
        </p:txBody>
      </p:sp>
      <p:sp>
        <p:nvSpPr>
          <p:cNvPr id="7" name="Text 4"/>
          <p:cNvSpPr/>
          <p:nvPr/>
        </p:nvSpPr>
        <p:spPr>
          <a:xfrm>
            <a:off x="6785901" y="2257955"/>
            <a:ext cx="45217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Import · duplicate block · match on a valid student ID · split parsing · idempotent posting · receipts</a:t>
            </a:r>
            <a:endParaRPr lang="en-US" sz="1200" dirty="0"/>
          </a:p>
        </p:txBody>
      </p:sp>
      <p:sp>
        <p:nvSpPr>
          <p:cNvPr id="8" name="Shape 5"/>
          <p:cNvSpPr/>
          <p:nvPr/>
        </p:nvSpPr>
        <p:spPr>
          <a:xfrm>
            <a:off x="6582701" y="2989396"/>
            <a:ext cx="4796433" cy="1272381"/>
          </a:xfrm>
          <a:prstGeom prst="roundRect">
            <a:avLst>
              <a:gd name="adj" fmla="val 6987"/>
            </a:avLst>
          </a:prstGeom>
          <a:solidFill>
            <a:srgbClr val="FBEFD9"/>
          </a:solidFill>
          <a:ln/>
        </p:spPr>
      </p:sp>
      <p:sp>
        <p:nvSpPr>
          <p:cNvPr id="9" name="Text 6"/>
          <p:cNvSpPr/>
          <p:nvPr/>
        </p:nvSpPr>
        <p:spPr>
          <a:xfrm>
            <a:off x="6785901" y="3167196"/>
            <a:ext cx="452173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A5300"/>
                </a:solidFill>
                <a:latin typeface="IBM Plex Sans" pitchFamily="34" charset="0"/>
                <a:ea typeface="IBM Plex Sans" pitchFamily="34" charset="-122"/>
                <a:cs typeface="IBM Plex Sans" pitchFamily="34" charset="-120"/>
              </a:rPr>
              <a:t>A person decides</a:t>
            </a:r>
            <a:endParaRPr lang="en-US" sz="1400" dirty="0"/>
          </a:p>
        </p:txBody>
      </p:sp>
      <p:sp>
        <p:nvSpPr>
          <p:cNvPr id="10" name="Text 7"/>
          <p:cNvSpPr/>
          <p:nvPr/>
        </p:nvSpPr>
        <p:spPr>
          <a:xfrm>
            <a:off x="6785901" y="3444016"/>
            <a:ext cx="452173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Fee component · name or phone matches · cash · reversals · corrections · every approval, by someone other than the proposer</a:t>
            </a:r>
            <a:endParaRPr lang="en-US" sz="1200" dirty="0"/>
          </a:p>
        </p:txBody>
      </p:sp>
      <p:sp>
        <p:nvSpPr>
          <p:cNvPr id="11" name="Shape 8"/>
          <p:cNvSpPr/>
          <p:nvPr/>
        </p:nvSpPr>
        <p:spPr>
          <a:xfrm>
            <a:off x="6585876" y="4391952"/>
            <a:ext cx="4790083" cy="1061178"/>
          </a:xfrm>
          <a:prstGeom prst="roundRect">
            <a:avLst>
              <a:gd name="adj" fmla="val 8078"/>
            </a:avLst>
          </a:prstGeom>
          <a:solidFill>
            <a:srgbClr val="FBFCFC"/>
          </a:solidFill>
          <a:ln w="6350">
            <a:solidFill>
              <a:srgbClr val="D4DEDE"/>
            </a:solidFill>
            <a:prstDash val="solid"/>
          </a:ln>
        </p:spPr>
      </p:sp>
      <p:sp>
        <p:nvSpPr>
          <p:cNvPr id="12" name="Text 9"/>
          <p:cNvSpPr/>
          <p:nvPr/>
        </p:nvSpPr>
        <p:spPr>
          <a:xfrm>
            <a:off x="6790134" y="4570809"/>
            <a:ext cx="451301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3D5150"/>
                </a:solidFill>
                <a:latin typeface="IBM Plex Sans" pitchFamily="34" charset="0"/>
                <a:ea typeface="IBM Plex Sans" pitchFamily="34" charset="-122"/>
                <a:cs typeface="IBM Plex Sans" pitchFamily="34" charset="-120"/>
              </a:rPr>
              <a:t>Not in the MVP</a:t>
            </a:r>
            <a:endParaRPr lang="en-US" sz="1400" dirty="0"/>
          </a:p>
        </p:txBody>
      </p:sp>
      <p:sp>
        <p:nvSpPr>
          <p:cNvPr id="13" name="Text 10"/>
          <p:cNvSpPr/>
          <p:nvPr/>
        </p:nvSpPr>
        <p:spPr>
          <a:xfrm>
            <a:off x="6790134" y="4847630"/>
            <a:ext cx="451301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5150"/>
                </a:solidFill>
                <a:latin typeface="IBM Plex Sans" pitchFamily="34" charset="0"/>
                <a:ea typeface="IBM Plex Sans" pitchFamily="34" charset="-122"/>
                <a:cs typeface="IBM Plex Sans" pitchFamily="34" charset="-120"/>
              </a:rPr>
              <a:t>Refund payouts · a new payment gateway · replacing the student system · a two-week promise</a:t>
            </a:r>
            <a:endParaRPr lang="en-US" sz="1200" dirty="0"/>
          </a:p>
        </p:txBody>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D7C"/>
                </a:solidFill>
                <a:latin typeface="IBM Plex Sans" pitchFamily="34" charset="0"/>
                <a:ea typeface="IBM Plex Sans" pitchFamily="34" charset="-122"/>
                <a:cs typeface="IBM Plex Sans" pitchFamily="34" charset="-120"/>
              </a:rPr>
              <a:t>3 · Dependencies: trusted bank feed format, student-system posting contract, Finance sign-off on policy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CF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A6866"/>
                </a:solidFill>
                <a:latin typeface="IBM Plex Sans" pitchFamily="34" charset="0"/>
                <a:ea typeface="IBM Plex Sans" pitchFamily="34" charset="-122"/>
                <a:cs typeface="IBM Plex Sans" pitchFamily="34" charset="-120"/>
              </a:rPr>
              <a:t>END-TO-END WORKFLOW</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221"/>
                </a:solidFill>
                <a:latin typeface="IBM Plex Sans" pitchFamily="34" charset="0"/>
                <a:ea typeface="IBM Plex Sans" pitchFamily="34" charset="-122"/>
                <a:cs typeface="IBM Plex Sans" pitchFamily="34" charset="-120"/>
              </a:rPr>
              <a:t>Every payment passes five gates, each with an owner</a:t>
            </a:r>
            <a:endParaRPr lang="en-US" sz="3200" dirty="0"/>
          </a:p>
        </p:txBody>
      </p:sp>
      <p:sp>
        <p:nvSpPr>
          <p:cNvPr id="4" name="Text 2"/>
          <p:cNvSpPr/>
          <p:nvPr/>
        </p:nvSpPr>
        <p:spPr>
          <a:xfrm>
            <a:off x="2159000" y="1777935"/>
            <a:ext cx="1783027" cy="391120"/>
          </a:xfrm>
          <a:prstGeom prst="roundRect">
            <a:avLst>
              <a:gd name="adj" fmla="val 16235"/>
            </a:avLst>
          </a:prstGeom>
          <a:solidFill>
            <a:srgbClr val="0A6866"/>
          </a:solidFill>
          <a:ln/>
        </p:spPr>
        <p:txBody>
          <a:bodyPr wrap="square" lIns="83001" tIns="70301" rIns="32201" bIns="44901" rtlCol="0" anchor="t">
            <a:normAutofit/>
          </a:bodyPr>
          <a:lstStyle/>
          <a:p>
            <a:pPr algn="l" indent="0" marL="0">
              <a:lnSpc>
                <a:spcPts val="1680"/>
              </a:lnSpc>
              <a:buNone/>
            </a:pPr>
            <a:r>
              <a:rPr lang="en-US" sz="1200" b="1" dirty="0">
                <a:solidFill>
                  <a:srgbClr val="F2F7F6"/>
                </a:solidFill>
                <a:latin typeface="IBM Plex Sans" pitchFamily="34" charset="0"/>
                <a:ea typeface="IBM Plex Sans" pitchFamily="34" charset="-122"/>
                <a:cs typeface="IBM Plex Sans" pitchFamily="34" charset="-120"/>
              </a:rPr>
              <a:t>1 Verified</a:t>
            </a:r>
            <a:endParaRPr lang="en-US" sz="1200" dirty="0"/>
          </a:p>
        </p:txBody>
      </p:sp>
      <p:sp>
        <p:nvSpPr>
          <p:cNvPr id="5" name="Text 3"/>
          <p:cNvSpPr/>
          <p:nvPr/>
        </p:nvSpPr>
        <p:spPr>
          <a:xfrm>
            <a:off x="4018227" y="1777935"/>
            <a:ext cx="1783093" cy="391120"/>
          </a:xfrm>
          <a:prstGeom prst="roundRect">
            <a:avLst>
              <a:gd name="adj" fmla="val 16235"/>
            </a:avLst>
          </a:prstGeom>
          <a:solidFill>
            <a:srgbClr val="0A6866"/>
          </a:solidFill>
          <a:ln/>
        </p:spPr>
        <p:txBody>
          <a:bodyPr wrap="square" lIns="83001" tIns="70301" rIns="32201" bIns="44901" rtlCol="0" anchor="t">
            <a:normAutofit/>
          </a:bodyPr>
          <a:lstStyle/>
          <a:p>
            <a:pPr algn="l" indent="0" marL="0">
              <a:lnSpc>
                <a:spcPts val="1680"/>
              </a:lnSpc>
              <a:buNone/>
            </a:pPr>
            <a:r>
              <a:rPr lang="en-US" sz="1200" b="1" dirty="0">
                <a:solidFill>
                  <a:srgbClr val="F2F7F6"/>
                </a:solidFill>
                <a:latin typeface="IBM Plex Sans" pitchFamily="34" charset="0"/>
                <a:ea typeface="IBM Plex Sans" pitchFamily="34" charset="-122"/>
                <a:cs typeface="IBM Plex Sans" pitchFamily="34" charset="-120"/>
              </a:rPr>
              <a:t>2 Matched</a:t>
            </a:r>
            <a:endParaRPr lang="en-US" sz="1200" dirty="0"/>
          </a:p>
        </p:txBody>
      </p:sp>
      <p:sp>
        <p:nvSpPr>
          <p:cNvPr id="6" name="Text 4"/>
          <p:cNvSpPr/>
          <p:nvPr/>
        </p:nvSpPr>
        <p:spPr>
          <a:xfrm>
            <a:off x="5877520" y="1777935"/>
            <a:ext cx="1783093" cy="391120"/>
          </a:xfrm>
          <a:prstGeom prst="roundRect">
            <a:avLst>
              <a:gd name="adj" fmla="val 16235"/>
            </a:avLst>
          </a:prstGeom>
          <a:solidFill>
            <a:srgbClr val="0A6866"/>
          </a:solidFill>
          <a:ln/>
        </p:spPr>
        <p:txBody>
          <a:bodyPr wrap="square" lIns="83001" tIns="70301" rIns="32201" bIns="44901" rtlCol="0" anchor="t">
            <a:normAutofit/>
          </a:bodyPr>
          <a:lstStyle/>
          <a:p>
            <a:pPr algn="l" indent="0" marL="0">
              <a:lnSpc>
                <a:spcPts val="1680"/>
              </a:lnSpc>
              <a:buNone/>
            </a:pPr>
            <a:r>
              <a:rPr lang="en-US" sz="1200" b="1" dirty="0">
                <a:solidFill>
                  <a:srgbClr val="F2F7F6"/>
                </a:solidFill>
                <a:latin typeface="IBM Plex Sans" pitchFamily="34" charset="0"/>
                <a:ea typeface="IBM Plex Sans" pitchFamily="34" charset="-122"/>
                <a:cs typeface="IBM Plex Sans" pitchFamily="34" charset="-120"/>
              </a:rPr>
              <a:t>3 Allocated</a:t>
            </a:r>
            <a:endParaRPr lang="en-US" sz="1200" dirty="0"/>
          </a:p>
        </p:txBody>
      </p:sp>
      <p:sp>
        <p:nvSpPr>
          <p:cNvPr id="7" name="Text 5"/>
          <p:cNvSpPr/>
          <p:nvPr/>
        </p:nvSpPr>
        <p:spPr>
          <a:xfrm>
            <a:off x="7736814" y="1777935"/>
            <a:ext cx="1783093" cy="391120"/>
          </a:xfrm>
          <a:prstGeom prst="roundRect">
            <a:avLst>
              <a:gd name="adj" fmla="val 16235"/>
            </a:avLst>
          </a:prstGeom>
          <a:solidFill>
            <a:srgbClr val="0A6866"/>
          </a:solidFill>
          <a:ln/>
        </p:spPr>
        <p:txBody>
          <a:bodyPr wrap="square" lIns="83001" tIns="70301" rIns="32201" bIns="44901" rtlCol="0" anchor="t">
            <a:normAutofit/>
          </a:bodyPr>
          <a:lstStyle/>
          <a:p>
            <a:pPr algn="l" indent="0" marL="0">
              <a:lnSpc>
                <a:spcPts val="1680"/>
              </a:lnSpc>
              <a:buNone/>
            </a:pPr>
            <a:r>
              <a:rPr lang="en-US" sz="1200" b="1" dirty="0">
                <a:solidFill>
                  <a:srgbClr val="F2F7F6"/>
                </a:solidFill>
                <a:latin typeface="IBM Plex Sans" pitchFamily="34" charset="0"/>
                <a:ea typeface="IBM Plex Sans" pitchFamily="34" charset="-122"/>
                <a:cs typeface="IBM Plex Sans" pitchFamily="34" charset="-120"/>
              </a:rPr>
              <a:t>4 Posted</a:t>
            </a:r>
            <a:endParaRPr lang="en-US" sz="1200" dirty="0"/>
          </a:p>
        </p:txBody>
      </p:sp>
      <p:sp>
        <p:nvSpPr>
          <p:cNvPr id="8" name="Text 6"/>
          <p:cNvSpPr/>
          <p:nvPr/>
        </p:nvSpPr>
        <p:spPr>
          <a:xfrm>
            <a:off x="9596107" y="1777935"/>
            <a:ext cx="1783093" cy="391120"/>
          </a:xfrm>
          <a:prstGeom prst="roundRect">
            <a:avLst>
              <a:gd name="adj" fmla="val 16235"/>
            </a:avLst>
          </a:prstGeom>
          <a:solidFill>
            <a:srgbClr val="0A6866"/>
          </a:solidFill>
          <a:ln/>
        </p:spPr>
        <p:txBody>
          <a:bodyPr wrap="square" lIns="83001" tIns="70301" rIns="32201" bIns="44901" rtlCol="0" anchor="t">
            <a:normAutofit/>
          </a:bodyPr>
          <a:lstStyle/>
          <a:p>
            <a:pPr algn="l" indent="0" marL="0">
              <a:lnSpc>
                <a:spcPts val="1680"/>
              </a:lnSpc>
              <a:buNone/>
            </a:pPr>
            <a:r>
              <a:rPr lang="en-US" sz="1200" b="1" dirty="0">
                <a:solidFill>
                  <a:srgbClr val="F2F7F6"/>
                </a:solidFill>
                <a:latin typeface="IBM Plex Sans" pitchFamily="34" charset="0"/>
                <a:ea typeface="IBM Plex Sans" pitchFamily="34" charset="-122"/>
                <a:cs typeface="IBM Plex Sans" pitchFamily="34" charset="-120"/>
              </a:rPr>
              <a:t>5 Receipted</a:t>
            </a:r>
            <a:endParaRPr lang="en-US" sz="1200" dirty="0"/>
          </a:p>
        </p:txBody>
      </p:sp>
      <p:sp>
        <p:nvSpPr>
          <p:cNvPr id="9" name="Text 7"/>
          <p:cNvSpPr/>
          <p:nvPr/>
        </p:nvSpPr>
        <p:spPr>
          <a:xfrm>
            <a:off x="812800" y="2346855"/>
            <a:ext cx="1320800" cy="42161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221"/>
                </a:solidFill>
                <a:latin typeface="IBM Plex Sans" pitchFamily="34" charset="0"/>
                <a:ea typeface="IBM Plex Sans" pitchFamily="34" charset="-122"/>
                <a:cs typeface="IBM Plex Sans" pitchFamily="34" charset="-120"/>
              </a:rPr>
              <a:t>Student</a:t>
            </a:r>
            <a:endParaRPr lang="en-US" sz="1200" dirty="0"/>
          </a:p>
        </p:txBody>
      </p:sp>
      <p:sp>
        <p:nvSpPr>
          <p:cNvPr id="10" name="Text 8"/>
          <p:cNvSpPr/>
          <p:nvPr/>
        </p:nvSpPr>
        <p:spPr>
          <a:xfrm>
            <a:off x="2159000" y="2245255"/>
            <a:ext cx="1783027" cy="599414"/>
          </a:xfrm>
          <a:prstGeom prst="roundRect">
            <a:avLst>
              <a:gd name="adj" fmla="val 10594"/>
            </a:avLst>
          </a:prstGeom>
          <a:solidFill>
            <a:srgbClr val="F2F5F5"/>
          </a:solidFill>
          <a:ln/>
        </p:spPr>
        <p:txBody>
          <a:bodyPr wrap="square" lIns="83001" tIns="83001" rIns="32201" bIns="57601" rtlCol="0" anchor="t">
            <a:normAutofit/>
          </a:bodyPr>
          <a:lstStyle/>
          <a:p>
            <a:pPr algn="l" indent="0" marL="0">
              <a:lnSpc>
                <a:spcPts val="1560"/>
              </a:lnSpc>
              <a:buNone/>
            </a:pPr>
            <a:r>
              <a:rPr lang="en-US" sz="1200" dirty="0">
                <a:solidFill>
                  <a:srgbClr val="122221"/>
                </a:solidFill>
                <a:latin typeface="IBM Plex Sans" pitchFamily="34" charset="0"/>
                <a:ea typeface="IBM Plex Sans" pitchFamily="34" charset="-122"/>
                <a:cs typeface="IBM Plex Sans" pitchFamily="34" charset="-120"/>
              </a:rPr>
              <a:t>Pays; may report UTR</a:t>
            </a:r>
            <a:endParaRPr lang="en-US" sz="1200" dirty="0"/>
          </a:p>
        </p:txBody>
      </p:sp>
      <p:sp>
        <p:nvSpPr>
          <p:cNvPr id="11" name="Text 9"/>
          <p:cNvSpPr/>
          <p:nvPr/>
        </p:nvSpPr>
        <p:spPr>
          <a:xfrm>
            <a:off x="4018227" y="2245255"/>
            <a:ext cx="1783093" cy="599414"/>
          </a:xfrm>
          <a:prstGeom prst="roundRect">
            <a:avLst>
              <a:gd name="adj" fmla="val 10594"/>
            </a:avLst>
          </a:prstGeom>
          <a:solidFill>
            <a:srgbClr val="F2F5F5"/>
          </a:solidFill>
          <a:ln/>
        </p:spPr>
        <p:txBody>
          <a:bodyPr wrap="square" lIns="83001" tIns="83001" rIns="32201" bIns="57601" rtlCol="0" anchor="t">
            <a:normAutofit/>
          </a:bodyPr>
          <a:lstStyle/>
          <a:p>
            <a:pPr algn="l" indent="0" marL="0">
              <a:lnSpc>
                <a:spcPts val="1560"/>
              </a:lnSpc>
              <a:buNone/>
            </a:pPr>
            <a:r>
              <a:rPr lang="en-US" sz="1200" dirty="0">
                <a:solidFill>
                  <a:srgbClr val="122221"/>
                </a:solidFill>
                <a:latin typeface="IBM Plex Sans" pitchFamily="34" charset="0"/>
                <a:ea typeface="IBM Plex Sans" pitchFamily="34" charset="-122"/>
                <a:cs typeface="IBM Plex Sans" pitchFamily="34" charset="-120"/>
              </a:rPr>
              <a:t>Sees “under review”</a:t>
            </a:r>
            <a:endParaRPr lang="en-US" sz="1200" dirty="0"/>
          </a:p>
        </p:txBody>
      </p:sp>
      <p:sp>
        <p:nvSpPr>
          <p:cNvPr id="12" name="Text 10"/>
          <p:cNvSpPr/>
          <p:nvPr/>
        </p:nvSpPr>
        <p:spPr>
          <a:xfrm>
            <a:off x="5979120" y="2346855"/>
            <a:ext cx="1630693"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FA09F"/>
                </a:solidFill>
                <a:latin typeface="IBM Plex Sans" pitchFamily="34" charset="0"/>
                <a:ea typeface="IBM Plex Sans" pitchFamily="34" charset="-122"/>
                <a:cs typeface="IBM Plex Sans" pitchFamily="34" charset="-120"/>
              </a:rPr>
              <a:t>—</a:t>
            </a:r>
            <a:endParaRPr lang="en-US" sz="1200" dirty="0"/>
          </a:p>
        </p:txBody>
      </p:sp>
      <p:sp>
        <p:nvSpPr>
          <p:cNvPr id="13" name="Text 11"/>
          <p:cNvSpPr/>
          <p:nvPr/>
        </p:nvSpPr>
        <p:spPr>
          <a:xfrm>
            <a:off x="7838414" y="2346855"/>
            <a:ext cx="1630693"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FA09F"/>
                </a:solidFill>
                <a:latin typeface="IBM Plex Sans" pitchFamily="34" charset="0"/>
                <a:ea typeface="IBM Plex Sans" pitchFamily="34" charset="-122"/>
                <a:cs typeface="IBM Plex Sans" pitchFamily="34" charset="-120"/>
              </a:rPr>
              <a:t>—</a:t>
            </a:r>
            <a:endParaRPr lang="en-US" sz="1200" dirty="0"/>
          </a:p>
        </p:txBody>
      </p:sp>
      <p:sp>
        <p:nvSpPr>
          <p:cNvPr id="14" name="Text 12"/>
          <p:cNvSpPr/>
          <p:nvPr/>
        </p:nvSpPr>
        <p:spPr>
          <a:xfrm>
            <a:off x="9596107" y="2245255"/>
            <a:ext cx="1783093" cy="599414"/>
          </a:xfrm>
          <a:prstGeom prst="roundRect">
            <a:avLst>
              <a:gd name="adj" fmla="val 10594"/>
            </a:avLst>
          </a:prstGeom>
          <a:solidFill>
            <a:srgbClr val="F2F5F5"/>
          </a:solidFill>
          <a:ln/>
        </p:spPr>
        <p:txBody>
          <a:bodyPr wrap="square" lIns="83001" tIns="83001" rIns="32201" bIns="57601" rtlCol="0" anchor="t">
            <a:normAutofit/>
          </a:bodyPr>
          <a:lstStyle/>
          <a:p>
            <a:pPr algn="l" indent="0" marL="0">
              <a:lnSpc>
                <a:spcPts val="1560"/>
              </a:lnSpc>
              <a:buNone/>
            </a:pPr>
            <a:r>
              <a:rPr lang="en-US" sz="1200" dirty="0">
                <a:solidFill>
                  <a:srgbClr val="122221"/>
                </a:solidFill>
                <a:latin typeface="IBM Plex Sans" pitchFamily="34" charset="0"/>
                <a:ea typeface="IBM Plex Sans" pitchFamily="34" charset="-122"/>
                <a:cs typeface="IBM Plex Sans" pitchFamily="34" charset="-120"/>
              </a:rPr>
              <a:t>Gets receipt; raises case</a:t>
            </a:r>
            <a:endParaRPr lang="en-US" sz="1200" dirty="0"/>
          </a:p>
        </p:txBody>
      </p:sp>
      <p:sp>
        <p:nvSpPr>
          <p:cNvPr id="15" name="Text 13"/>
          <p:cNvSpPr/>
          <p:nvPr/>
        </p:nvSpPr>
        <p:spPr>
          <a:xfrm>
            <a:off x="812800" y="3022468"/>
            <a:ext cx="1320800" cy="44701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221"/>
                </a:solidFill>
                <a:latin typeface="IBM Plex Sans" pitchFamily="34" charset="0"/>
                <a:ea typeface="IBM Plex Sans" pitchFamily="34" charset="-122"/>
                <a:cs typeface="IBM Plex Sans" pitchFamily="34" charset="-120"/>
              </a:rPr>
              <a:t>System</a:t>
            </a:r>
            <a:endParaRPr lang="en-US" sz="1200" dirty="0"/>
          </a:p>
        </p:txBody>
      </p:sp>
      <p:sp>
        <p:nvSpPr>
          <p:cNvPr id="16" name="Text 14"/>
          <p:cNvSpPr/>
          <p:nvPr/>
        </p:nvSpPr>
        <p:spPr>
          <a:xfrm>
            <a:off x="2165350" y="2927218"/>
            <a:ext cx="1770327" cy="612114"/>
          </a:xfrm>
          <a:prstGeom prst="roundRect">
            <a:avLst>
              <a:gd name="adj" fmla="val 9336"/>
            </a:avLst>
          </a:prstGeom>
          <a:noFill/>
          <a:ln w="12700">
            <a:solidFill>
              <a:srgbClr val="8FA09F"/>
            </a:solidFill>
            <a:prstDash val="dash"/>
          </a:ln>
        </p:spPr>
        <p:txBody>
          <a:bodyPr wrap="square" lIns="91211" tIns="91211" rIns="40411" bIns="65811" rtlCol="0" anchor="t">
            <a:normAutofit/>
          </a:bodyPr>
          <a:lstStyle/>
          <a:p>
            <a:pPr algn="l" indent="0" marL="0">
              <a:lnSpc>
                <a:spcPts val="1560"/>
              </a:lnSpc>
              <a:buNone/>
            </a:pPr>
            <a:r>
              <a:rPr lang="en-US" sz="1200" dirty="0">
                <a:solidFill>
                  <a:srgbClr val="122221"/>
                </a:solidFill>
                <a:latin typeface="IBM Plex Sans" pitchFamily="34" charset="0"/>
                <a:ea typeface="IBM Plex Sans" pitchFamily="34" charset="-122"/>
                <a:cs typeface="IBM Plex Sans" pitchFamily="34" charset="-120"/>
              </a:rPr>
              <a:t>Imports feed; blocks duplicates</a:t>
            </a:r>
            <a:endParaRPr lang="en-US" sz="1200" dirty="0"/>
          </a:p>
        </p:txBody>
      </p:sp>
      <p:sp>
        <p:nvSpPr>
          <p:cNvPr id="17" name="Text 15"/>
          <p:cNvSpPr/>
          <p:nvPr/>
        </p:nvSpPr>
        <p:spPr>
          <a:xfrm>
            <a:off x="4024577" y="2927218"/>
            <a:ext cx="1770393" cy="612114"/>
          </a:xfrm>
          <a:prstGeom prst="roundRect">
            <a:avLst>
              <a:gd name="adj" fmla="val 9336"/>
            </a:avLst>
          </a:prstGeom>
          <a:noFill/>
          <a:ln w="12700">
            <a:solidFill>
              <a:srgbClr val="8FA09F"/>
            </a:solidFill>
            <a:prstDash val="dash"/>
          </a:ln>
        </p:spPr>
        <p:txBody>
          <a:bodyPr wrap="square" lIns="91211" tIns="91211" rIns="40411" bIns="65811" rtlCol="0" anchor="t">
            <a:normAutofit/>
          </a:bodyPr>
          <a:lstStyle/>
          <a:p>
            <a:pPr algn="l" indent="0" marL="0">
              <a:lnSpc>
                <a:spcPts val="1560"/>
              </a:lnSpc>
              <a:buNone/>
            </a:pPr>
            <a:r>
              <a:rPr lang="en-US" sz="1200" dirty="0">
                <a:solidFill>
                  <a:srgbClr val="122221"/>
                </a:solidFill>
                <a:latin typeface="IBM Plex Sans" pitchFamily="34" charset="0"/>
                <a:ea typeface="IBM Plex Sans" pitchFamily="34" charset="-122"/>
                <a:cs typeface="IBM Plex Sans" pitchFamily="34" charset="-120"/>
              </a:rPr>
              <a:t>Matches valid ID; ranks names</a:t>
            </a:r>
            <a:endParaRPr lang="en-US" sz="1200" dirty="0"/>
          </a:p>
        </p:txBody>
      </p:sp>
      <p:sp>
        <p:nvSpPr>
          <p:cNvPr id="18" name="Text 16"/>
          <p:cNvSpPr/>
          <p:nvPr/>
        </p:nvSpPr>
        <p:spPr>
          <a:xfrm>
            <a:off x="5883870" y="2927218"/>
            <a:ext cx="1770393" cy="612114"/>
          </a:xfrm>
          <a:prstGeom prst="roundRect">
            <a:avLst>
              <a:gd name="adj" fmla="val 9336"/>
            </a:avLst>
          </a:prstGeom>
          <a:noFill/>
          <a:ln w="12700">
            <a:solidFill>
              <a:srgbClr val="8FA09F"/>
            </a:solidFill>
            <a:prstDash val="dash"/>
          </a:ln>
        </p:spPr>
        <p:txBody>
          <a:bodyPr wrap="square" lIns="91211" tIns="91211" rIns="40411" bIns="65811" rtlCol="0" anchor="t">
            <a:normAutofit/>
          </a:bodyPr>
          <a:lstStyle/>
          <a:p>
            <a:pPr algn="l" indent="0" marL="0">
              <a:lnSpc>
                <a:spcPts val="1560"/>
              </a:lnSpc>
              <a:buNone/>
            </a:pPr>
            <a:r>
              <a:rPr lang="en-US" sz="1200" dirty="0">
                <a:solidFill>
                  <a:srgbClr val="122221"/>
                </a:solidFill>
                <a:latin typeface="IBM Plex Sans" pitchFamily="34" charset="0"/>
                <a:ea typeface="IBM Plex Sans" pitchFamily="34" charset="-122"/>
                <a:cs typeface="IBM Plex Sans" pitchFamily="34" charset="-120"/>
              </a:rPr>
              <a:t>Caps lines at money received</a:t>
            </a:r>
            <a:endParaRPr lang="en-US" sz="1200" dirty="0"/>
          </a:p>
        </p:txBody>
      </p:sp>
      <p:sp>
        <p:nvSpPr>
          <p:cNvPr id="19" name="Text 17"/>
          <p:cNvSpPr/>
          <p:nvPr/>
        </p:nvSpPr>
        <p:spPr>
          <a:xfrm>
            <a:off x="7743164" y="2927218"/>
            <a:ext cx="1770393" cy="612114"/>
          </a:xfrm>
          <a:prstGeom prst="roundRect">
            <a:avLst>
              <a:gd name="adj" fmla="val 9336"/>
            </a:avLst>
          </a:prstGeom>
          <a:noFill/>
          <a:ln w="12700">
            <a:solidFill>
              <a:srgbClr val="8FA09F"/>
            </a:solidFill>
            <a:prstDash val="dash"/>
          </a:ln>
        </p:spPr>
        <p:txBody>
          <a:bodyPr wrap="square" lIns="91211" tIns="91211" rIns="40411" bIns="65811" rtlCol="0" anchor="t">
            <a:normAutofit/>
          </a:bodyPr>
          <a:lstStyle/>
          <a:p>
            <a:pPr algn="l" indent="0" marL="0">
              <a:lnSpc>
                <a:spcPts val="1560"/>
              </a:lnSpc>
              <a:buNone/>
            </a:pPr>
            <a:r>
              <a:rPr lang="en-US" sz="1200" dirty="0">
                <a:solidFill>
                  <a:srgbClr val="122221"/>
                </a:solidFill>
                <a:latin typeface="IBM Plex Sans" pitchFamily="34" charset="0"/>
                <a:ea typeface="IBM Plex Sans" pitchFamily="34" charset="-122"/>
                <a:cs typeface="IBM Plex Sans" pitchFamily="34" charset="-120"/>
              </a:rPr>
              <a:t>Posts once; safe retry</a:t>
            </a:r>
            <a:endParaRPr lang="en-US" sz="1200" dirty="0"/>
          </a:p>
        </p:txBody>
      </p:sp>
      <p:sp>
        <p:nvSpPr>
          <p:cNvPr id="20" name="Text 18"/>
          <p:cNvSpPr/>
          <p:nvPr/>
        </p:nvSpPr>
        <p:spPr>
          <a:xfrm>
            <a:off x="9602457" y="2927218"/>
            <a:ext cx="1770393" cy="612114"/>
          </a:xfrm>
          <a:prstGeom prst="roundRect">
            <a:avLst>
              <a:gd name="adj" fmla="val 9336"/>
            </a:avLst>
          </a:prstGeom>
          <a:noFill/>
          <a:ln w="12700">
            <a:solidFill>
              <a:srgbClr val="8FA09F"/>
            </a:solidFill>
            <a:prstDash val="dash"/>
          </a:ln>
        </p:spPr>
        <p:txBody>
          <a:bodyPr wrap="square" lIns="91211" tIns="91211" rIns="40411" bIns="65811" rtlCol="0" anchor="t">
            <a:normAutofit/>
          </a:bodyPr>
          <a:lstStyle/>
          <a:p>
            <a:pPr algn="l" indent="0" marL="0">
              <a:lnSpc>
                <a:spcPts val="1560"/>
              </a:lnSpc>
              <a:buNone/>
            </a:pPr>
            <a:r>
              <a:rPr lang="en-US" sz="1200" dirty="0">
                <a:solidFill>
                  <a:srgbClr val="122221"/>
                </a:solidFill>
                <a:latin typeface="IBM Plex Sans" pitchFamily="34" charset="0"/>
                <a:ea typeface="IBM Plex Sans" pitchFamily="34" charset="-122"/>
                <a:cs typeface="IBM Plex Sans" pitchFamily="34" charset="-120"/>
              </a:rPr>
              <a:t>One receipt per line</a:t>
            </a:r>
            <a:endParaRPr lang="en-US" sz="1200" dirty="0"/>
          </a:p>
        </p:txBody>
      </p:sp>
      <p:sp>
        <p:nvSpPr>
          <p:cNvPr id="21" name="Text 19"/>
          <p:cNvSpPr/>
          <p:nvPr/>
        </p:nvSpPr>
        <p:spPr>
          <a:xfrm>
            <a:off x="812800" y="3723481"/>
            <a:ext cx="1320800" cy="42161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221"/>
                </a:solidFill>
                <a:latin typeface="IBM Plex Sans" pitchFamily="34" charset="0"/>
                <a:ea typeface="IBM Plex Sans" pitchFamily="34" charset="-122"/>
                <a:cs typeface="IBM Plex Sans" pitchFamily="34" charset="-120"/>
              </a:rPr>
              <a:t>Operations</a:t>
            </a:r>
            <a:endParaRPr lang="en-US" sz="1200" dirty="0"/>
          </a:p>
        </p:txBody>
      </p:sp>
      <p:sp>
        <p:nvSpPr>
          <p:cNvPr id="22" name="Text 20"/>
          <p:cNvSpPr/>
          <p:nvPr/>
        </p:nvSpPr>
        <p:spPr>
          <a:xfrm>
            <a:off x="2159000" y="3621881"/>
            <a:ext cx="1783027" cy="599414"/>
          </a:xfrm>
          <a:prstGeom prst="roundRect">
            <a:avLst>
              <a:gd name="adj" fmla="val 10594"/>
            </a:avLst>
          </a:prstGeom>
          <a:solidFill>
            <a:srgbClr val="F2F5F5"/>
          </a:solidFill>
          <a:ln/>
        </p:spPr>
        <p:txBody>
          <a:bodyPr wrap="square" lIns="83001" tIns="83001" rIns="32201" bIns="57601" rtlCol="0" anchor="t">
            <a:normAutofit/>
          </a:bodyPr>
          <a:lstStyle/>
          <a:p>
            <a:pPr algn="l" indent="0" marL="0">
              <a:lnSpc>
                <a:spcPts val="1560"/>
              </a:lnSpc>
              <a:buNone/>
            </a:pPr>
            <a:r>
              <a:rPr lang="en-US" sz="1200" dirty="0">
                <a:solidFill>
                  <a:srgbClr val="122221"/>
                </a:solidFill>
                <a:latin typeface="IBM Plex Sans" pitchFamily="34" charset="0"/>
                <a:ea typeface="IBM Plex Sans" pitchFamily="34" charset="-122"/>
                <a:cs typeface="IBM Plex Sans" pitchFamily="34" charset="-120"/>
              </a:rPr>
              <a:t>Counsellor reports cash</a:t>
            </a:r>
            <a:endParaRPr lang="en-US" sz="1200" dirty="0"/>
          </a:p>
        </p:txBody>
      </p:sp>
      <p:sp>
        <p:nvSpPr>
          <p:cNvPr id="23" name="Text 21"/>
          <p:cNvSpPr/>
          <p:nvPr/>
        </p:nvSpPr>
        <p:spPr>
          <a:xfrm>
            <a:off x="4018227" y="3621881"/>
            <a:ext cx="1783093" cy="599414"/>
          </a:xfrm>
          <a:prstGeom prst="roundRect">
            <a:avLst>
              <a:gd name="adj" fmla="val 10594"/>
            </a:avLst>
          </a:prstGeom>
          <a:solidFill>
            <a:srgbClr val="F2F5F5"/>
          </a:solidFill>
          <a:ln/>
        </p:spPr>
        <p:txBody>
          <a:bodyPr wrap="square" lIns="83001" tIns="83001" rIns="32201" bIns="57601" rtlCol="0" anchor="t">
            <a:normAutofit/>
          </a:bodyPr>
          <a:lstStyle/>
          <a:p>
            <a:pPr algn="l" indent="0" marL="0">
              <a:lnSpc>
                <a:spcPts val="1560"/>
              </a:lnSpc>
              <a:buNone/>
            </a:pPr>
            <a:r>
              <a:rPr lang="en-US" sz="1200" dirty="0">
                <a:solidFill>
                  <a:srgbClr val="122221"/>
                </a:solidFill>
                <a:latin typeface="IBM Plex Sans" pitchFamily="34" charset="0"/>
                <a:ea typeface="IBM Plex Sans" pitchFamily="34" charset="-122"/>
                <a:cs typeface="IBM Plex Sans" pitchFamily="34" charset="-120"/>
              </a:rPr>
              <a:t>Works queue; gets evidence</a:t>
            </a:r>
            <a:endParaRPr lang="en-US" sz="1200" dirty="0"/>
          </a:p>
        </p:txBody>
      </p:sp>
      <p:sp>
        <p:nvSpPr>
          <p:cNvPr id="24" name="Text 22"/>
          <p:cNvSpPr/>
          <p:nvPr/>
        </p:nvSpPr>
        <p:spPr>
          <a:xfrm>
            <a:off x="5877520" y="3621881"/>
            <a:ext cx="1783093" cy="599414"/>
          </a:xfrm>
          <a:prstGeom prst="roundRect">
            <a:avLst>
              <a:gd name="adj" fmla="val 10594"/>
            </a:avLst>
          </a:prstGeom>
          <a:solidFill>
            <a:srgbClr val="F2F5F5"/>
          </a:solidFill>
          <a:ln/>
        </p:spPr>
        <p:txBody>
          <a:bodyPr wrap="none" lIns="0" tIns="83001" rIns="0" bIns="57601" rtlCol="0" anchor="t">
            <a:normAutofit/>
          </a:bodyPr>
          <a:lstStyle/>
          <a:p>
            <a:pPr algn="ctr" indent="0" marL="0">
              <a:lnSpc>
                <a:spcPts val="1560"/>
              </a:lnSpc>
              <a:buNone/>
            </a:pPr>
            <a:r>
              <a:rPr lang="en-US" sz="1200" dirty="0">
                <a:solidFill>
                  <a:srgbClr val="122221"/>
                </a:solidFill>
                <a:latin typeface="IBM Plex Sans" pitchFamily="34" charset="0"/>
                <a:ea typeface="IBM Plex Sans" pitchFamily="34" charset="-122"/>
                <a:cs typeface="IBM Plex Sans" pitchFamily="34" charset="-120"/>
              </a:rPr>
              <a:t>Proposes student + fee</a:t>
            </a:r>
            <a:endParaRPr lang="en-US" sz="1200" dirty="0"/>
          </a:p>
        </p:txBody>
      </p:sp>
      <p:sp>
        <p:nvSpPr>
          <p:cNvPr id="25" name="Text 23"/>
          <p:cNvSpPr/>
          <p:nvPr/>
        </p:nvSpPr>
        <p:spPr>
          <a:xfrm>
            <a:off x="7736814" y="3621881"/>
            <a:ext cx="1783093" cy="599414"/>
          </a:xfrm>
          <a:prstGeom prst="roundRect">
            <a:avLst>
              <a:gd name="adj" fmla="val 10594"/>
            </a:avLst>
          </a:prstGeom>
          <a:solidFill>
            <a:srgbClr val="F2F5F5"/>
          </a:solidFill>
          <a:ln/>
        </p:spPr>
        <p:txBody>
          <a:bodyPr wrap="square" lIns="83001" tIns="83001" rIns="32201" bIns="57601" rtlCol="0" anchor="t">
            <a:normAutofit/>
          </a:bodyPr>
          <a:lstStyle/>
          <a:p>
            <a:pPr algn="l" indent="0" marL="0">
              <a:lnSpc>
                <a:spcPts val="1560"/>
              </a:lnSpc>
              <a:buNone/>
            </a:pPr>
            <a:r>
              <a:rPr lang="en-US" sz="1200" dirty="0">
                <a:solidFill>
                  <a:srgbClr val="122221"/>
                </a:solidFill>
                <a:latin typeface="IBM Plex Sans" pitchFamily="34" charset="0"/>
                <a:ea typeface="IBM Plex Sans" pitchFamily="34" charset="-122"/>
                <a:cs typeface="IBM Plex Sans" pitchFamily="34" charset="-120"/>
              </a:rPr>
              <a:t>Retries a failed post</a:t>
            </a:r>
            <a:endParaRPr lang="en-US" sz="1200" dirty="0"/>
          </a:p>
        </p:txBody>
      </p:sp>
      <p:sp>
        <p:nvSpPr>
          <p:cNvPr id="26" name="Text 24"/>
          <p:cNvSpPr/>
          <p:nvPr/>
        </p:nvSpPr>
        <p:spPr>
          <a:xfrm>
            <a:off x="9596107" y="3621881"/>
            <a:ext cx="1783093" cy="599414"/>
          </a:xfrm>
          <a:prstGeom prst="roundRect">
            <a:avLst>
              <a:gd name="adj" fmla="val 10594"/>
            </a:avLst>
          </a:prstGeom>
          <a:solidFill>
            <a:srgbClr val="F2F5F5"/>
          </a:solidFill>
          <a:ln/>
        </p:spPr>
        <p:txBody>
          <a:bodyPr wrap="square" lIns="83001" tIns="83001" rIns="32201" bIns="57601" rtlCol="0" anchor="t">
            <a:normAutofit/>
          </a:bodyPr>
          <a:lstStyle/>
          <a:p>
            <a:pPr algn="l" indent="0" marL="0">
              <a:lnSpc>
                <a:spcPts val="1560"/>
              </a:lnSpc>
              <a:buNone/>
            </a:pPr>
            <a:r>
              <a:rPr lang="en-US" sz="1200" dirty="0">
                <a:solidFill>
                  <a:srgbClr val="122221"/>
                </a:solidFill>
                <a:latin typeface="IBM Plex Sans" pitchFamily="34" charset="0"/>
                <a:ea typeface="IBM Plex Sans" pitchFamily="34" charset="-122"/>
                <a:cs typeface="IBM Plex Sans" pitchFamily="34" charset="-120"/>
              </a:rPr>
              <a:t>Resolves cases</a:t>
            </a:r>
            <a:endParaRPr lang="en-US" sz="1200" dirty="0"/>
          </a:p>
        </p:txBody>
      </p:sp>
      <p:sp>
        <p:nvSpPr>
          <p:cNvPr id="27" name="Text 25"/>
          <p:cNvSpPr/>
          <p:nvPr/>
        </p:nvSpPr>
        <p:spPr>
          <a:xfrm>
            <a:off x="812800" y="4399096"/>
            <a:ext cx="1320800" cy="44701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221"/>
                </a:solidFill>
                <a:latin typeface="IBM Plex Sans" pitchFamily="34" charset="0"/>
                <a:ea typeface="IBM Plex Sans" pitchFamily="34" charset="-122"/>
                <a:cs typeface="IBM Plex Sans" pitchFamily="34" charset="-120"/>
              </a:rPr>
              <a:t>Finance</a:t>
            </a:r>
            <a:endParaRPr lang="en-US" sz="1200" dirty="0"/>
          </a:p>
        </p:txBody>
      </p:sp>
      <p:sp>
        <p:nvSpPr>
          <p:cNvPr id="28" name="Text 26"/>
          <p:cNvSpPr/>
          <p:nvPr/>
        </p:nvSpPr>
        <p:spPr>
          <a:xfrm>
            <a:off x="2165350" y="4303846"/>
            <a:ext cx="1770327" cy="612114"/>
          </a:xfrm>
          <a:prstGeom prst="roundRect">
            <a:avLst>
              <a:gd name="adj" fmla="val 9336"/>
            </a:avLst>
          </a:prstGeom>
          <a:solidFill>
            <a:srgbClr val="DCEFEE"/>
          </a:solidFill>
          <a:ln w="12700">
            <a:solidFill>
              <a:srgbClr val="0A6866"/>
            </a:solidFill>
            <a:prstDash val="solid"/>
          </a:ln>
        </p:spPr>
        <p:txBody>
          <a:bodyPr wrap="square" lIns="91211" tIns="91211" rIns="40411" bIns="65811" rtlCol="0" anchor="t">
            <a:normAutofit/>
          </a:bodyPr>
          <a:lstStyle/>
          <a:p>
            <a:pPr algn="l" indent="0" marL="0">
              <a:lnSpc>
                <a:spcPts val="1560"/>
              </a:lnSpc>
              <a:buNone/>
            </a:pPr>
            <a:r>
              <a:rPr lang="en-US" sz="1200" dirty="0">
                <a:solidFill>
                  <a:srgbClr val="122221"/>
                </a:solidFill>
                <a:latin typeface="IBM Plex Sans" pitchFamily="34" charset="0"/>
                <a:ea typeface="IBM Plex Sans" pitchFamily="34" charset="-122"/>
                <a:cs typeface="IBM Plex Sans" pitchFamily="34" charset="-120"/>
              </a:rPr>
              <a:t>Imports feed; verifies cash</a:t>
            </a:r>
            <a:endParaRPr lang="en-US" sz="1200" dirty="0"/>
          </a:p>
        </p:txBody>
      </p:sp>
      <p:sp>
        <p:nvSpPr>
          <p:cNvPr id="29" name="Text 27"/>
          <p:cNvSpPr/>
          <p:nvPr/>
        </p:nvSpPr>
        <p:spPr>
          <a:xfrm>
            <a:off x="4018227" y="4297496"/>
            <a:ext cx="1783093" cy="624814"/>
          </a:xfrm>
          <a:prstGeom prst="roundRect">
            <a:avLst>
              <a:gd name="adj" fmla="val 10163"/>
            </a:avLst>
          </a:prstGeom>
          <a:solidFill>
            <a:srgbClr val="F2F5F5"/>
          </a:solidFill>
          <a:ln/>
        </p:spPr>
        <p:txBody>
          <a:bodyPr wrap="square" lIns="83001" tIns="83001" rIns="32201" bIns="57601" rtlCol="0" anchor="t">
            <a:normAutofit/>
          </a:bodyPr>
          <a:lstStyle/>
          <a:p>
            <a:pPr algn="l" indent="0" marL="0">
              <a:lnSpc>
                <a:spcPts val="1560"/>
              </a:lnSpc>
              <a:buNone/>
            </a:pPr>
            <a:r>
              <a:rPr lang="en-US" sz="1200" dirty="0">
                <a:solidFill>
                  <a:srgbClr val="122221"/>
                </a:solidFill>
                <a:latin typeface="IBM Plex Sans" pitchFamily="34" charset="0"/>
                <a:ea typeface="IBM Plex Sans" pitchFamily="34" charset="-122"/>
                <a:cs typeface="IBM Plex Sans" pitchFamily="34" charset="-120"/>
              </a:rPr>
              <a:t>Takes escalations</a:t>
            </a:r>
            <a:endParaRPr lang="en-US" sz="1200" dirty="0"/>
          </a:p>
        </p:txBody>
      </p:sp>
      <p:sp>
        <p:nvSpPr>
          <p:cNvPr id="30" name="Text 28"/>
          <p:cNvSpPr/>
          <p:nvPr/>
        </p:nvSpPr>
        <p:spPr>
          <a:xfrm>
            <a:off x="5979120" y="4399096"/>
            <a:ext cx="1630693" cy="4470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FA09F"/>
                </a:solidFill>
                <a:latin typeface="IBM Plex Sans" pitchFamily="34" charset="0"/>
                <a:ea typeface="IBM Plex Sans" pitchFamily="34" charset="-122"/>
                <a:cs typeface="IBM Plex Sans" pitchFamily="34" charset="-120"/>
              </a:rPr>
              <a:t>—</a:t>
            </a:r>
            <a:endParaRPr lang="en-US" sz="1200" dirty="0"/>
          </a:p>
        </p:txBody>
      </p:sp>
      <p:sp>
        <p:nvSpPr>
          <p:cNvPr id="31" name="Text 29"/>
          <p:cNvSpPr/>
          <p:nvPr/>
        </p:nvSpPr>
        <p:spPr>
          <a:xfrm>
            <a:off x="7743164" y="4303846"/>
            <a:ext cx="1770393" cy="612114"/>
          </a:xfrm>
          <a:prstGeom prst="roundRect">
            <a:avLst>
              <a:gd name="adj" fmla="val 9336"/>
            </a:avLst>
          </a:prstGeom>
          <a:solidFill>
            <a:srgbClr val="DCEFEE"/>
          </a:solidFill>
          <a:ln w="12700">
            <a:solidFill>
              <a:srgbClr val="0A6866"/>
            </a:solidFill>
            <a:prstDash val="solid"/>
          </a:ln>
        </p:spPr>
        <p:txBody>
          <a:bodyPr wrap="square" lIns="91211" tIns="91211" rIns="40411" bIns="65811" rtlCol="0" anchor="t">
            <a:normAutofit/>
          </a:bodyPr>
          <a:lstStyle/>
          <a:p>
            <a:pPr algn="l" indent="0" marL="0">
              <a:lnSpc>
                <a:spcPts val="1560"/>
              </a:lnSpc>
              <a:buNone/>
            </a:pPr>
            <a:r>
              <a:rPr lang="en-US" sz="1200" dirty="0">
                <a:solidFill>
                  <a:srgbClr val="122221"/>
                </a:solidFill>
                <a:latin typeface="IBM Plex Sans" pitchFamily="34" charset="0"/>
                <a:ea typeface="IBM Plex Sans" pitchFamily="34" charset="-122"/>
                <a:cs typeface="IBM Plex Sans" pitchFamily="34" charset="-120"/>
              </a:rPr>
              <a:t>Approves (not own); reversals</a:t>
            </a:r>
            <a:endParaRPr lang="en-US" sz="1200" dirty="0"/>
          </a:p>
        </p:txBody>
      </p:sp>
      <p:sp>
        <p:nvSpPr>
          <p:cNvPr id="32" name="Text 30"/>
          <p:cNvSpPr/>
          <p:nvPr/>
        </p:nvSpPr>
        <p:spPr>
          <a:xfrm>
            <a:off x="9596107" y="4297496"/>
            <a:ext cx="1783093" cy="624814"/>
          </a:xfrm>
          <a:prstGeom prst="roundRect">
            <a:avLst>
              <a:gd name="adj" fmla="val 10163"/>
            </a:avLst>
          </a:prstGeom>
          <a:solidFill>
            <a:srgbClr val="F2F5F5"/>
          </a:solidFill>
          <a:ln/>
        </p:spPr>
        <p:txBody>
          <a:bodyPr wrap="square" lIns="83001" tIns="83001" rIns="32201" bIns="57601" rtlCol="0" anchor="t">
            <a:normAutofit/>
          </a:bodyPr>
          <a:lstStyle/>
          <a:p>
            <a:pPr algn="l" indent="0" marL="0">
              <a:lnSpc>
                <a:spcPts val="1560"/>
              </a:lnSpc>
              <a:buNone/>
            </a:pPr>
            <a:r>
              <a:rPr lang="en-US" sz="1200" dirty="0">
                <a:solidFill>
                  <a:srgbClr val="122221"/>
                </a:solidFill>
                <a:latin typeface="IBM Plex Sans" pitchFamily="34" charset="0"/>
                <a:ea typeface="IBM Plex Sans" pitchFamily="34" charset="-122"/>
                <a:cs typeface="IBM Plex Sans" pitchFamily="34" charset="-120"/>
              </a:rPr>
              <a:t>Reconciles totals daily</a:t>
            </a:r>
            <a:endParaRPr lang="en-US" sz="1200" dirty="0"/>
          </a:p>
        </p:txBody>
      </p:sp>
      <p:sp>
        <p:nvSpPr>
          <p:cNvPr id="33" name="Text 31"/>
          <p:cNvSpPr/>
          <p:nvPr/>
        </p:nvSpPr>
        <p:spPr>
          <a:xfrm>
            <a:off x="812800" y="515090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5150"/>
                </a:solidFill>
                <a:latin typeface="IBM Plex Sans" pitchFamily="34" charset="0"/>
                <a:ea typeface="IBM Plex Sans" pitchFamily="34" charset="-122"/>
                <a:cs typeface="IBM Plex Sans" pitchFamily="34" charset="-120"/>
              </a:rPr>
              <a:t>Dashed = automatic · teal = control point. Admin sets policy and roles only.</a:t>
            </a:r>
            <a:endParaRPr lang="en-US" sz="1200" dirty="0"/>
          </a:p>
        </p:txBody>
      </p:sp>
      <p:sp>
        <p:nvSpPr>
          <p:cNvPr id="34" name="Text 3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D7C"/>
                </a:solidFill>
                <a:latin typeface="IBM Plex Sans" pitchFamily="34" charset="0"/>
                <a:ea typeface="IBM Plex Sans" pitchFamily="34" charset="-122"/>
                <a:cs typeface="IBM Plex Sans" pitchFamily="34" charset="-120"/>
              </a:rPr>
              <a:t>4 · Behaviour for auto match, suspected match, missing details, multiple payments and reversals on slides 5–6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A6866"/>
                </a:solidFill>
                <a:latin typeface="IBM Plex Sans" pitchFamily="34" charset="0"/>
                <a:ea typeface="IBM Plex Sans" pitchFamily="34" charset="-122"/>
                <a:cs typeface="IBM Plex Sans" pitchFamily="34" charset="-120"/>
              </a:rPr>
              <a:t>THE NINE PAYMENT RECORDS</a:t>
            </a:r>
            <a:endParaRPr lang="en-US" sz="1200" dirty="0"/>
          </a:p>
        </p:txBody>
      </p:sp>
      <p:sp>
        <p:nvSpPr>
          <p:cNvPr id="3" name="Text 1"/>
          <p:cNvSpPr/>
          <p:nvPr>
            <p:ph type="title"/>
          </p:nvPr>
        </p:nvSpPr>
        <p:spPr>
          <a:xfrm>
            <a:off x="812800" y="1102320"/>
            <a:ext cx="10883392" cy="919427"/>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221"/>
                </a:solidFill>
                <a:latin typeface="IBM Plex Sans" pitchFamily="34" charset="0"/>
                <a:ea typeface="IBM Plex Sans" pitchFamily="34" charset="-122"/>
                <a:cs typeface="IBM Plex Sans" pitchFamily="34" charset="-120"/>
              </a:rPr>
              <a:t>Three resolve automatically; six need evidence or a second person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212249"/>
          <a:ext cx="10553700" cy="3326474"/>
        </p:xfrm>
        <a:graphic>
          <a:graphicData uri="http://schemas.openxmlformats.org/drawingml/2006/table">
            <a:tbl>
              <a:tblPr/>
              <a:tblGrid>
                <a:gridCol w="1371981"/>
                <a:gridCol w="2955036"/>
                <a:gridCol w="3271647"/>
                <a:gridCol w="1371981"/>
                <a:gridCol w="1583055"/>
              </a:tblGrid>
              <a:tr h="332647">
                <a:tc>
                  <a:txBody>
                    <a:bodyPr/>
                    <a:lstStyle/>
                    <a:p>
                      <a:pPr indent="0" marL="0">
                        <a:lnSpc>
                          <a:spcPts val="1680"/>
                        </a:lnSpc>
                        <a:buNone/>
                      </a:pPr>
                      <a:r>
                        <a:rPr lang="en-US" sz="1200" b="1" dirty="0">
                          <a:solidFill>
                            <a:srgbClr val="122221"/>
                          </a:solidFill>
                          <a:latin typeface="IBM Plex Sans" pitchFamily="34" charset="0"/>
                          <a:ea typeface="IBM Plex Sans" pitchFamily="34" charset="-122"/>
                          <a:cs typeface="IBM Plex Sans" pitchFamily="34" charset="-120"/>
                        </a:rPr>
                        <a:t>Payment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B3B5B5"/>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B3B5B5"/>
                      </a:solidFill>
                      <a:prstDash val="solid"/>
                      <a:round/>
                      <a:headEnd type="none" w="med" len="med"/>
                      <a:tailEnd type="none" w="med" len="med"/>
                    </a:lnB>
                    <a:solidFill>
                      <a:srgbClr val="E0E3E3"/>
                    </a:solidFill>
                  </a:tcPr>
                </a:tc>
                <a:tc>
                  <a:txBody>
                    <a:bodyPr/>
                    <a:lstStyle/>
                    <a:p>
                      <a:pPr indent="0" marL="0">
                        <a:lnSpc>
                          <a:spcPts val="1680"/>
                        </a:lnSpc>
                        <a:buNone/>
                      </a:pPr>
                      <a:r>
                        <a:rPr lang="en-US" sz="1200" b="1" dirty="0">
                          <a:solidFill>
                            <a:srgbClr val="122221"/>
                          </a:solidFill>
                          <a:latin typeface="IBM Plex Sans" pitchFamily="34" charset="0"/>
                          <a:ea typeface="IBM Plex Sans" pitchFamily="34" charset="-122"/>
                          <a:cs typeface="IBM Plex Sans" pitchFamily="34" charset="-120"/>
                        </a:rPr>
                        <a:t>What we know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3B5B5"/>
                      </a:solidFill>
                      <a:prstDash val="solid"/>
                      <a:round/>
                      <a:headEnd type="none" w="med" len="med"/>
                      <a:tailEnd type="none" w="med" len="med"/>
                    </a:lnL>
                    <a:lnR w="12700" cap="flat" cmpd="sng" algn="ctr">
                      <a:solidFill>
                        <a:srgbClr val="B3B5B5"/>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B3B5B5"/>
                      </a:solidFill>
                      <a:prstDash val="solid"/>
                      <a:round/>
                      <a:headEnd type="none" w="med" len="med"/>
                      <a:tailEnd type="none" w="med" len="med"/>
                    </a:lnB>
                    <a:solidFill>
                      <a:srgbClr val="E0E3E3"/>
                    </a:solidFill>
                  </a:tcPr>
                </a:tc>
                <a:tc>
                  <a:txBody>
                    <a:bodyPr/>
                    <a:lstStyle/>
                    <a:p>
                      <a:pPr indent="0" marL="0">
                        <a:lnSpc>
                          <a:spcPts val="1680"/>
                        </a:lnSpc>
                        <a:buNone/>
                      </a:pPr>
                      <a:r>
                        <a:rPr lang="en-US" sz="1200" b="1" dirty="0">
                          <a:solidFill>
                            <a:srgbClr val="122221"/>
                          </a:solidFill>
                          <a:latin typeface="IBM Plex Sans" pitchFamily="34" charset="0"/>
                          <a:ea typeface="IBM Plex Sans" pitchFamily="34" charset="-122"/>
                          <a:cs typeface="IBM Plex Sans" pitchFamily="34" charset="-120"/>
                        </a:rPr>
                        <a:t>Decision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3B5B5"/>
                      </a:solidFill>
                      <a:prstDash val="solid"/>
                      <a:round/>
                      <a:headEnd type="none" w="med" len="med"/>
                      <a:tailEnd type="none" w="med" len="med"/>
                    </a:lnL>
                    <a:lnR w="12700" cap="flat" cmpd="sng" algn="ctr">
                      <a:solidFill>
                        <a:srgbClr val="B3B5B5"/>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B3B5B5"/>
                      </a:solidFill>
                      <a:prstDash val="solid"/>
                      <a:round/>
                      <a:headEnd type="none" w="med" len="med"/>
                      <a:tailEnd type="none" w="med" len="med"/>
                    </a:lnB>
                    <a:solidFill>
                      <a:srgbClr val="E0E3E3"/>
                    </a:solidFill>
                  </a:tcPr>
                </a:tc>
                <a:tc>
                  <a:txBody>
                    <a:bodyPr/>
                    <a:lstStyle/>
                    <a:p>
                      <a:pPr indent="0" marL="0">
                        <a:lnSpc>
                          <a:spcPts val="1680"/>
                        </a:lnSpc>
                        <a:buNone/>
                      </a:pPr>
                      <a:r>
                        <a:rPr lang="en-US" sz="1200" b="1" dirty="0">
                          <a:solidFill>
                            <a:srgbClr val="122221"/>
                          </a:solidFill>
                          <a:latin typeface="IBM Plex Sans" pitchFamily="34" charset="0"/>
                          <a:ea typeface="IBM Plex Sans" pitchFamily="34" charset="-122"/>
                          <a:cs typeface="IBM Plex Sans" pitchFamily="34" charset="-120"/>
                        </a:rPr>
                        <a:t>Posts now?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3B5B5"/>
                      </a:solidFill>
                      <a:prstDash val="solid"/>
                      <a:round/>
                      <a:headEnd type="none" w="med" len="med"/>
                      <a:tailEnd type="none" w="med" len="med"/>
                    </a:lnL>
                    <a:lnR w="12700" cap="flat" cmpd="sng" algn="ctr">
                      <a:solidFill>
                        <a:srgbClr val="B3B5B5"/>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B3B5B5"/>
                      </a:solidFill>
                      <a:prstDash val="solid"/>
                      <a:round/>
                      <a:headEnd type="none" w="med" len="med"/>
                      <a:tailEnd type="none" w="med" len="med"/>
                    </a:lnB>
                    <a:solidFill>
                      <a:srgbClr val="E0E3E3"/>
                    </a:solidFill>
                  </a:tcPr>
                </a:tc>
                <a:tc>
                  <a:txBody>
                    <a:bodyPr/>
                    <a:lstStyle/>
                    <a:p>
                      <a:pPr indent="0" marL="0">
                        <a:lnSpc>
                          <a:spcPts val="1680"/>
                        </a:lnSpc>
                        <a:buNone/>
                      </a:pPr>
                      <a:r>
                        <a:rPr lang="en-US" sz="1200" b="1" dirty="0">
                          <a:solidFill>
                            <a:srgbClr val="122221"/>
                          </a:solidFill>
                          <a:latin typeface="IBM Plex Sans" pitchFamily="34" charset="0"/>
                          <a:ea typeface="IBM Plex Sans" pitchFamily="34" charset="-122"/>
                          <a:cs typeface="IBM Plex Sans" pitchFamily="34" charset="-120"/>
                        </a:rPr>
                        <a:t>Still unknown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3B5B5"/>
                      </a:solidFill>
                      <a:prstDash val="solid"/>
                      <a:round/>
                      <a:headEnd type="none" w="med" len="med"/>
                      <a:tailEnd type="none" w="med" len="med"/>
                    </a:lnL>
                    <a:lnR w="12700" cap="flat" cmpd="sng" algn="ctr">
                      <a:solidFill>
                        <a:srgbClr val="B3B5B5"/>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B3B5B5"/>
                      </a:solidFill>
                      <a:prstDash val="solid"/>
                      <a:round/>
                      <a:headEnd type="none" w="med" len="med"/>
                      <a:tailEnd type="none" w="med" len="med"/>
                    </a:lnB>
                    <a:solidFill>
                      <a:srgbClr val="E0E3E3"/>
                    </a:solidFill>
                  </a:tcPr>
                </a:tc>
              </a:tr>
              <a:tr h="332647">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P1 · ₹10,000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B3B5B5"/>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UPI ref S101; payer unregistered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B3B5B5"/>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Auto-match S101; Ops picks fee head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B3B5B5"/>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After approval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B3B5B5"/>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Fee component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B3B5B5"/>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P2 · ₹20,000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From “R Mehta”, no 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Hold: name is a Low candidate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Whose money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P3 · ₹15,000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UPI ref S103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Auto-match; Tuition, approved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Yes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P4 · ₹10,000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B9BCBC"/>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B9BCBC"/>
                      </a:solidFill>
                      <a:prstDash val="solid"/>
                      <a:round/>
                      <a:headEnd type="none" w="med" len="med"/>
                      <a:tailEnd type="none" w="med" len="med"/>
                    </a:lnB>
                    <a:solidFill>
                      <a:srgbClr val="E7ECEC"/>
                    </a:solidFill>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Same transaction ID as P1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C"/>
                      </a:solidFill>
                      <a:prstDash val="solid"/>
                      <a:round/>
                      <a:headEnd type="none" w="med" len="med"/>
                      <a:tailEnd type="none" w="med" len="med"/>
                    </a:lnL>
                    <a:lnR w="12700" cap="flat" cmpd="sng" algn="ctr">
                      <a:solidFill>
                        <a:srgbClr val="B9BCBC"/>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B9BCBC"/>
                      </a:solidFill>
                      <a:prstDash val="solid"/>
                      <a:round/>
                      <a:headEnd type="none" w="med" len="med"/>
                      <a:tailEnd type="none" w="med" len="med"/>
                    </a:lnB>
                    <a:solidFill>
                      <a:srgbClr val="E7ECEC"/>
                    </a:solidFill>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Blocked as duplicate, linked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C"/>
                      </a:solidFill>
                      <a:prstDash val="solid"/>
                      <a:round/>
                      <a:headEnd type="none" w="med" len="med"/>
                      <a:tailEnd type="none" w="med" len="med"/>
                    </a:lnL>
                    <a:lnR w="12700" cap="flat" cmpd="sng" algn="ctr">
                      <a:solidFill>
                        <a:srgbClr val="B9BCBC"/>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B9BCBC"/>
                      </a:solidFill>
                      <a:prstDash val="solid"/>
                      <a:round/>
                      <a:headEnd type="none" w="med" len="med"/>
                      <a:tailEnd type="none" w="med" len="med"/>
                    </a:lnB>
                    <a:solidFill>
                      <a:srgbClr val="E7ECEC"/>
                    </a:solidFill>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Never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C"/>
                      </a:solidFill>
                      <a:prstDash val="solid"/>
                      <a:round/>
                      <a:headEnd type="none" w="med" len="med"/>
                      <a:tailEnd type="none" w="med" len="med"/>
                    </a:lnL>
                    <a:lnR w="12700" cap="flat" cmpd="sng" algn="ctr">
                      <a:solidFill>
                        <a:srgbClr val="B9BCBC"/>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B9BCBC"/>
                      </a:solidFill>
                      <a:prstDash val="solid"/>
                      <a:round/>
                      <a:headEnd type="none" w="med" len="med"/>
                      <a:tailEnd type="none" w="med" len="med"/>
                    </a:lnB>
                    <a:solidFill>
                      <a:srgbClr val="E7ECEC"/>
                    </a:solidFill>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C"/>
                      </a:solidFill>
                      <a:prstDash val="solid"/>
                      <a:round/>
                      <a:headEnd type="none" w="med" len="med"/>
                      <a:tailEnd type="none" w="med" len="med"/>
                    </a:lnL>
                    <a:lnR w="12700" cap="flat" cmpd="sng" algn="ctr">
                      <a:solidFill>
                        <a:srgbClr val="B9BCBC"/>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B9BCBC"/>
                      </a:solidFill>
                      <a:prstDash val="solid"/>
                      <a:round/>
                      <a:headEnd type="none" w="med" len="med"/>
                      <a:tailEnd type="none" w="med" len="med"/>
                    </a:lnB>
                    <a:solidFill>
                      <a:srgbClr val="E7ECEC"/>
                    </a:solidFill>
                  </a:tcPr>
                </a:tc>
              </a:tr>
              <a:tr h="332647">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P5 · ₹10,000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B9BCBC"/>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Cash; no deposit proof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B9BCBC"/>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Hold until Finance matches deposit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B9BCBC"/>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B9BCBC"/>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Did money arrive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B9BCBC"/>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P6 · ₹30,000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Note “S101 15000 / S104 15000”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Two lines, one source, one approval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After approval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Fee component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P7 · ₹20,000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Screenshot; not in bank feed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Claim only; links if UTR appears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Did money arrive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P8 · −₹5,000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Partial reversal of P3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Linked; Finance applies; P3 nets ₹10,000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After approval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P9 · ₹25,000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Payer “Dev Nair”, no 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Hold: exact name is a Medium candidate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c>
                  <a:txBody>
                    <a:bodyPr/>
                    <a:lstStyle/>
                    <a:p>
                      <a:pPr indent="0" marL="0">
                        <a:lnSpc>
                          <a:spcPts val="1680"/>
                        </a:lnSpc>
                        <a:buNone/>
                      </a:pPr>
                      <a:r>
                        <a:rPr lang="en-US" sz="1200" dirty="0">
                          <a:solidFill>
                            <a:srgbClr val="122221"/>
                          </a:solidFill>
                          <a:latin typeface="IBM Plex Sans" pitchFamily="34" charset="0"/>
                          <a:ea typeface="IBM Plex Sans" pitchFamily="34" charset="-122"/>
                          <a:cs typeface="IBM Plex Sans" pitchFamily="34" charset="-120"/>
                        </a:rPr>
                        <a:t>Is payer S104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1C4C3"/>
                      </a:solidFill>
                      <a:prstDash val="solid"/>
                      <a:round/>
                      <a:headEnd type="none" w="med" len="med"/>
                      <a:tailEnd type="none" w="med" len="med"/>
                    </a:lnL>
                    <a:lnR w="12700" cap="flat" cmpd="sng" algn="ctr">
                      <a:solidFill>
                        <a:srgbClr val="C1C4C3"/>
                      </a:solidFill>
                      <a:prstDash val="solid"/>
                      <a:round/>
                      <a:headEnd type="none" w="med" len="med"/>
                      <a:tailEnd type="none" w="med" len="med"/>
                    </a:lnR>
                    <a:lnT w="12700" cap="flat" cmpd="sng" algn="ctr">
                      <a:solidFill>
                        <a:srgbClr val="C1C4C3"/>
                      </a:solidFill>
                      <a:prstDash val="solid"/>
                      <a:round/>
                      <a:headEnd type="none" w="med" len="med"/>
                      <a:tailEnd type="none" w="med" len="med"/>
                    </a:lnT>
                    <a:lnB w="12700" cap="flat" cmpd="sng" algn="ctr">
                      <a:solidFill>
                        <a:srgbClr val="C1C4C3"/>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D7C"/>
                </a:solidFill>
                <a:latin typeface="IBM Plex Sans" pitchFamily="34" charset="0"/>
                <a:ea typeface="IBM Plex Sans" pitchFamily="34" charset="-122"/>
                <a:cs typeface="IBM Plex Sans" pitchFamily="34" charset="-120"/>
              </a:rPr>
              <a:t>5 · Duplicate P4 · split P6 · cash P5 · reversal P8 · screenshot P7 · partial payments P1 + P6 both reach S101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CF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A6866"/>
                </a:solidFill>
                <a:latin typeface="IBM Plex Sans" pitchFamily="34" charset="0"/>
                <a:ea typeface="IBM Plex Sans" pitchFamily="34" charset="-122"/>
                <a:cs typeface="IBM Plex Sans" pitchFamily="34" charset="-120"/>
              </a:rPr>
              <a:t>FINANCIAL CONTROLS AND BUSINESS RULES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221"/>
                </a:solidFill>
                <a:latin typeface="IBM Plex Sans" pitchFamily="34" charset="0"/>
                <a:ea typeface="IBM Plex Sans" pitchFamily="34" charset="-122"/>
                <a:cs typeface="IBM Plex Sans" pitchFamily="34" charset="-120"/>
              </a:rPr>
              <a:t>Eight rules keep every rupee counted once</a:t>
            </a:r>
            <a:endParaRPr lang="en-US" sz="3200" dirty="0"/>
          </a:p>
        </p:txBody>
      </p:sp>
      <p:sp>
        <p:nvSpPr>
          <p:cNvPr id="4" name="Shape 2"/>
          <p:cNvSpPr/>
          <p:nvPr/>
        </p:nvSpPr>
        <p:spPr>
          <a:xfrm>
            <a:off x="812800" y="1777935"/>
            <a:ext cx="2546350" cy="1206368"/>
          </a:xfrm>
          <a:prstGeom prst="roundRect">
            <a:avLst>
              <a:gd name="adj" fmla="val 7369"/>
            </a:avLst>
          </a:prstGeom>
          <a:solidFill>
            <a:srgbClr val="F2F5F5"/>
          </a:solidFill>
          <a:ln/>
        </p:spPr>
      </p:sp>
      <p:sp>
        <p:nvSpPr>
          <p:cNvPr id="5" name="Text 3"/>
          <p:cNvSpPr/>
          <p:nvPr/>
        </p:nvSpPr>
        <p:spPr>
          <a:xfrm>
            <a:off x="990600" y="1930335"/>
            <a:ext cx="225647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6866"/>
                </a:solidFill>
                <a:latin typeface="IBM Plex Sans" pitchFamily="34" charset="0"/>
                <a:ea typeface="IBM Plex Sans" pitchFamily="34" charset="-122"/>
                <a:cs typeface="IBM Plex Sans" pitchFamily="34" charset="-120"/>
              </a:rPr>
              <a:t>Verify first</a:t>
            </a:r>
            <a:endParaRPr lang="en-US" sz="1400" dirty="0"/>
          </a:p>
        </p:txBody>
      </p:sp>
      <p:sp>
        <p:nvSpPr>
          <p:cNvPr id="6" name="Text 4"/>
          <p:cNvSpPr/>
          <p:nvPr/>
        </p:nvSpPr>
        <p:spPr>
          <a:xfrm>
            <a:off x="990600" y="2207155"/>
            <a:ext cx="2256473"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5150"/>
                </a:solidFill>
                <a:latin typeface="IBM Plex Sans" pitchFamily="34" charset="0"/>
                <a:ea typeface="IBM Plex Sans" pitchFamily="34" charset="-122"/>
                <a:cs typeface="IBM Plex Sans" pitchFamily="34" charset="-120"/>
              </a:rPr>
              <a:t>Only bank-feed or Finance-matched cash can be allocated</a:t>
            </a:r>
            <a:endParaRPr lang="en-US" sz="1200" dirty="0"/>
          </a:p>
        </p:txBody>
      </p:sp>
      <p:sp>
        <p:nvSpPr>
          <p:cNvPr id="7" name="Shape 5"/>
          <p:cNvSpPr/>
          <p:nvPr/>
        </p:nvSpPr>
        <p:spPr>
          <a:xfrm>
            <a:off x="3486150" y="1777935"/>
            <a:ext cx="2546350" cy="1206368"/>
          </a:xfrm>
          <a:prstGeom prst="roundRect">
            <a:avLst>
              <a:gd name="adj" fmla="val 7369"/>
            </a:avLst>
          </a:prstGeom>
          <a:solidFill>
            <a:srgbClr val="F2F5F5"/>
          </a:solidFill>
          <a:ln/>
        </p:spPr>
      </p:sp>
      <p:sp>
        <p:nvSpPr>
          <p:cNvPr id="8" name="Text 6"/>
          <p:cNvSpPr/>
          <p:nvPr/>
        </p:nvSpPr>
        <p:spPr>
          <a:xfrm>
            <a:off x="3663950" y="1930335"/>
            <a:ext cx="225647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6866"/>
                </a:solidFill>
                <a:latin typeface="IBM Plex Sans" pitchFamily="34" charset="0"/>
                <a:ea typeface="IBM Plex Sans" pitchFamily="34" charset="-122"/>
                <a:cs typeface="IBM Plex Sans" pitchFamily="34" charset="-120"/>
              </a:rPr>
              <a:t>No duplicates</a:t>
            </a:r>
            <a:endParaRPr lang="en-US" sz="1400" dirty="0"/>
          </a:p>
        </p:txBody>
      </p:sp>
      <p:sp>
        <p:nvSpPr>
          <p:cNvPr id="9" name="Text 7"/>
          <p:cNvSpPr/>
          <p:nvPr/>
        </p:nvSpPr>
        <p:spPr>
          <a:xfrm>
            <a:off x="3663950" y="2207155"/>
            <a:ext cx="2256473"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5150"/>
                </a:solidFill>
                <a:latin typeface="IBM Plex Sans" pitchFamily="34" charset="0"/>
                <a:ea typeface="IBM Plex Sans" pitchFamily="34" charset="-122"/>
                <a:cs typeface="IBM Plex Sans" pitchFamily="34" charset="-120"/>
              </a:rPr>
              <a:t>Same source and ID is linked, never counted; a different amount is a conflict</a:t>
            </a:r>
            <a:endParaRPr lang="en-US" sz="1200" dirty="0"/>
          </a:p>
        </p:txBody>
      </p:sp>
      <p:sp>
        <p:nvSpPr>
          <p:cNvPr id="10" name="Shape 8"/>
          <p:cNvSpPr/>
          <p:nvPr/>
        </p:nvSpPr>
        <p:spPr>
          <a:xfrm>
            <a:off x="6159500" y="1777935"/>
            <a:ext cx="2546350" cy="1206368"/>
          </a:xfrm>
          <a:prstGeom prst="roundRect">
            <a:avLst>
              <a:gd name="adj" fmla="val 7369"/>
            </a:avLst>
          </a:prstGeom>
          <a:solidFill>
            <a:srgbClr val="F2F5F5"/>
          </a:solidFill>
          <a:ln/>
        </p:spPr>
      </p:sp>
      <p:sp>
        <p:nvSpPr>
          <p:cNvPr id="11" name="Text 9"/>
          <p:cNvSpPr/>
          <p:nvPr/>
        </p:nvSpPr>
        <p:spPr>
          <a:xfrm>
            <a:off x="6337300" y="1930335"/>
            <a:ext cx="2256473"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6866"/>
                </a:solidFill>
                <a:latin typeface="IBM Plex Sans" pitchFamily="34" charset="0"/>
                <a:ea typeface="IBM Plex Sans" pitchFamily="34" charset="-122"/>
                <a:cs typeface="IBM Plex Sans" pitchFamily="34" charset="-120"/>
              </a:rPr>
              <a:t>Evidence for weak matches</a:t>
            </a:r>
            <a:endParaRPr lang="en-US" sz="1400" dirty="0"/>
          </a:p>
        </p:txBody>
      </p:sp>
      <p:sp>
        <p:nvSpPr>
          <p:cNvPr id="12" name="Text 10"/>
          <p:cNvSpPr/>
          <p:nvPr/>
        </p:nvSpPr>
        <p:spPr>
          <a:xfrm>
            <a:off x="6337300" y="2420476"/>
            <a:ext cx="2256473"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5150"/>
                </a:solidFill>
                <a:latin typeface="IBM Plex Sans" pitchFamily="34" charset="0"/>
                <a:ea typeface="IBM Plex Sans" pitchFamily="34" charset="-122"/>
                <a:cs typeface="IBM Plex Sans" pitchFamily="34" charset="-120"/>
              </a:rPr>
              <a:t>A name or phone match needs a recorded reason</a:t>
            </a:r>
            <a:endParaRPr lang="en-US" sz="1200" dirty="0"/>
          </a:p>
        </p:txBody>
      </p:sp>
      <p:sp>
        <p:nvSpPr>
          <p:cNvPr id="13" name="Shape 11"/>
          <p:cNvSpPr/>
          <p:nvPr/>
        </p:nvSpPr>
        <p:spPr>
          <a:xfrm>
            <a:off x="8832850" y="1777935"/>
            <a:ext cx="2546350" cy="1206368"/>
          </a:xfrm>
          <a:prstGeom prst="roundRect">
            <a:avLst>
              <a:gd name="adj" fmla="val 7369"/>
            </a:avLst>
          </a:prstGeom>
          <a:solidFill>
            <a:srgbClr val="F2F5F5"/>
          </a:solidFill>
          <a:ln/>
        </p:spPr>
      </p:sp>
      <p:sp>
        <p:nvSpPr>
          <p:cNvPr id="14" name="Text 12"/>
          <p:cNvSpPr/>
          <p:nvPr/>
        </p:nvSpPr>
        <p:spPr>
          <a:xfrm>
            <a:off x="9010650" y="1930335"/>
            <a:ext cx="225647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6866"/>
                </a:solidFill>
                <a:latin typeface="IBM Plex Sans" pitchFamily="34" charset="0"/>
                <a:ea typeface="IBM Plex Sans" pitchFamily="34" charset="-122"/>
                <a:cs typeface="IBM Plex Sans" pitchFamily="34" charset="-120"/>
              </a:rPr>
              <a:t>Never over-allocate</a:t>
            </a:r>
            <a:endParaRPr lang="en-US" sz="1400" dirty="0"/>
          </a:p>
        </p:txBody>
      </p:sp>
      <p:sp>
        <p:nvSpPr>
          <p:cNvPr id="15" name="Text 13"/>
          <p:cNvSpPr/>
          <p:nvPr/>
        </p:nvSpPr>
        <p:spPr>
          <a:xfrm>
            <a:off x="9010650" y="2207155"/>
            <a:ext cx="2256473"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5150"/>
                </a:solidFill>
                <a:latin typeface="IBM Plex Sans" pitchFamily="34" charset="0"/>
                <a:ea typeface="IBM Plex Sans" pitchFamily="34" charset="-122"/>
                <a:cs typeface="IBM Plex Sans" pitchFamily="34" charset="-120"/>
              </a:rPr>
              <a:t>Lines ≤ received − reversed, re-checked at approval</a:t>
            </a:r>
            <a:endParaRPr lang="en-US" sz="1200" dirty="0"/>
          </a:p>
        </p:txBody>
      </p:sp>
      <p:sp>
        <p:nvSpPr>
          <p:cNvPr id="16" name="Shape 14"/>
          <p:cNvSpPr/>
          <p:nvPr/>
        </p:nvSpPr>
        <p:spPr>
          <a:xfrm>
            <a:off x="812800" y="3111302"/>
            <a:ext cx="2546350" cy="1198761"/>
          </a:xfrm>
          <a:prstGeom prst="roundRect">
            <a:avLst>
              <a:gd name="adj" fmla="val 7416"/>
            </a:avLst>
          </a:prstGeom>
          <a:solidFill>
            <a:srgbClr val="F2F5F5"/>
          </a:solidFill>
          <a:ln/>
        </p:spPr>
      </p:sp>
      <p:sp>
        <p:nvSpPr>
          <p:cNvPr id="17" name="Text 15"/>
          <p:cNvSpPr/>
          <p:nvPr/>
        </p:nvSpPr>
        <p:spPr>
          <a:xfrm>
            <a:off x="990600" y="3263702"/>
            <a:ext cx="225647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6866"/>
                </a:solidFill>
                <a:latin typeface="IBM Plex Sans" pitchFamily="34" charset="0"/>
                <a:ea typeface="IBM Plex Sans" pitchFamily="34" charset="-122"/>
                <a:cs typeface="IBM Plex Sans" pitchFamily="34" charset="-120"/>
              </a:rPr>
              <a:t>Two people</a:t>
            </a:r>
            <a:endParaRPr lang="en-US" sz="1400" dirty="0"/>
          </a:p>
        </p:txBody>
      </p:sp>
      <p:sp>
        <p:nvSpPr>
          <p:cNvPr id="18" name="Text 16"/>
          <p:cNvSpPr/>
          <p:nvPr/>
        </p:nvSpPr>
        <p:spPr>
          <a:xfrm>
            <a:off x="990600" y="3540522"/>
            <a:ext cx="2256473"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5150"/>
                </a:solidFill>
                <a:latin typeface="IBM Plex Sans" pitchFamily="34" charset="0"/>
                <a:ea typeface="IBM Plex Sans" pitchFamily="34" charset="-122"/>
                <a:cs typeface="IBM Plex Sans" pitchFamily="34" charset="-120"/>
              </a:rPr>
              <a:t>Proposer ≠ approver; requester ≠ corrector; cash reporter ≠ verifier</a:t>
            </a:r>
            <a:endParaRPr lang="en-US" sz="1200" dirty="0"/>
          </a:p>
        </p:txBody>
      </p:sp>
      <p:sp>
        <p:nvSpPr>
          <p:cNvPr id="19" name="Shape 17"/>
          <p:cNvSpPr/>
          <p:nvPr/>
        </p:nvSpPr>
        <p:spPr>
          <a:xfrm>
            <a:off x="3486150" y="3111302"/>
            <a:ext cx="2546350" cy="1198761"/>
          </a:xfrm>
          <a:prstGeom prst="roundRect">
            <a:avLst>
              <a:gd name="adj" fmla="val 7416"/>
            </a:avLst>
          </a:prstGeom>
          <a:solidFill>
            <a:srgbClr val="F2F5F5"/>
          </a:solidFill>
          <a:ln/>
        </p:spPr>
      </p:sp>
      <p:sp>
        <p:nvSpPr>
          <p:cNvPr id="20" name="Text 18"/>
          <p:cNvSpPr/>
          <p:nvPr/>
        </p:nvSpPr>
        <p:spPr>
          <a:xfrm>
            <a:off x="3663950" y="3263702"/>
            <a:ext cx="225647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6866"/>
                </a:solidFill>
                <a:latin typeface="IBM Plex Sans" pitchFamily="34" charset="0"/>
                <a:ea typeface="IBM Plex Sans" pitchFamily="34" charset="-122"/>
                <a:cs typeface="IBM Plex Sans" pitchFamily="34" charset="-120"/>
              </a:rPr>
              <a:t>Post once</a:t>
            </a:r>
            <a:endParaRPr lang="en-US" sz="1400" dirty="0"/>
          </a:p>
        </p:txBody>
      </p:sp>
      <p:sp>
        <p:nvSpPr>
          <p:cNvPr id="21" name="Text 19"/>
          <p:cNvSpPr/>
          <p:nvPr/>
        </p:nvSpPr>
        <p:spPr>
          <a:xfrm>
            <a:off x="3663950" y="3540522"/>
            <a:ext cx="2256473"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5150"/>
                </a:solidFill>
                <a:latin typeface="IBM Plex Sans" pitchFamily="34" charset="0"/>
                <a:ea typeface="IBM Plex Sans" pitchFamily="34" charset="-122"/>
                <a:cs typeface="IBM Plex Sans" pitchFamily="34" charset="-120"/>
              </a:rPr>
              <a:t>Idempotency key per proposal; one receipt per line</a:t>
            </a:r>
            <a:endParaRPr lang="en-US" sz="1200" dirty="0"/>
          </a:p>
        </p:txBody>
      </p:sp>
      <p:sp>
        <p:nvSpPr>
          <p:cNvPr id="22" name="Shape 20"/>
          <p:cNvSpPr/>
          <p:nvPr/>
        </p:nvSpPr>
        <p:spPr>
          <a:xfrm>
            <a:off x="6159500" y="3111302"/>
            <a:ext cx="2546350" cy="1198761"/>
          </a:xfrm>
          <a:prstGeom prst="roundRect">
            <a:avLst>
              <a:gd name="adj" fmla="val 7416"/>
            </a:avLst>
          </a:prstGeom>
          <a:solidFill>
            <a:srgbClr val="F2F5F5"/>
          </a:solidFill>
          <a:ln/>
        </p:spPr>
      </p:sp>
      <p:sp>
        <p:nvSpPr>
          <p:cNvPr id="23" name="Text 21"/>
          <p:cNvSpPr/>
          <p:nvPr/>
        </p:nvSpPr>
        <p:spPr>
          <a:xfrm>
            <a:off x="6337300" y="3263702"/>
            <a:ext cx="225647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6866"/>
                </a:solidFill>
                <a:latin typeface="IBM Plex Sans" pitchFamily="34" charset="0"/>
                <a:ea typeface="IBM Plex Sans" pitchFamily="34" charset="-122"/>
                <a:cs typeface="IBM Plex Sans" pitchFamily="34" charset="-120"/>
              </a:rPr>
              <a:t>Nothing deleted</a:t>
            </a:r>
            <a:endParaRPr lang="en-US" sz="1400" dirty="0"/>
          </a:p>
        </p:txBody>
      </p:sp>
      <p:sp>
        <p:nvSpPr>
          <p:cNvPr id="24" name="Text 22"/>
          <p:cNvSpPr/>
          <p:nvPr/>
        </p:nvSpPr>
        <p:spPr>
          <a:xfrm>
            <a:off x="6337300" y="3540522"/>
            <a:ext cx="2256473"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5150"/>
                </a:solidFill>
                <a:latin typeface="IBM Plex Sans" pitchFamily="34" charset="0"/>
                <a:ea typeface="IBM Plex Sans" pitchFamily="34" charset="-122"/>
                <a:cs typeface="IBM Plex Sans" pitchFamily="34" charset="-120"/>
              </a:rPr>
              <a:t>Reversals and corrections are linked entries; receipts adjust</a:t>
            </a:r>
            <a:endParaRPr lang="en-US" sz="1200" dirty="0"/>
          </a:p>
        </p:txBody>
      </p:sp>
      <p:sp>
        <p:nvSpPr>
          <p:cNvPr id="25" name="Shape 23"/>
          <p:cNvSpPr/>
          <p:nvPr/>
        </p:nvSpPr>
        <p:spPr>
          <a:xfrm>
            <a:off x="8832850" y="3111302"/>
            <a:ext cx="2546350" cy="1198761"/>
          </a:xfrm>
          <a:prstGeom prst="roundRect">
            <a:avLst>
              <a:gd name="adj" fmla="val 7416"/>
            </a:avLst>
          </a:prstGeom>
          <a:solidFill>
            <a:srgbClr val="F2F5F5"/>
          </a:solidFill>
          <a:ln/>
        </p:spPr>
      </p:sp>
      <p:sp>
        <p:nvSpPr>
          <p:cNvPr id="26" name="Text 24"/>
          <p:cNvSpPr/>
          <p:nvPr/>
        </p:nvSpPr>
        <p:spPr>
          <a:xfrm>
            <a:off x="9010650" y="3263702"/>
            <a:ext cx="225647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6866"/>
                </a:solidFill>
                <a:latin typeface="IBM Plex Sans" pitchFamily="34" charset="0"/>
                <a:ea typeface="IBM Plex Sans" pitchFamily="34" charset="-122"/>
                <a:cs typeface="IBM Plex Sans" pitchFamily="34" charset="-120"/>
              </a:rPr>
              <a:t>Audit everything</a:t>
            </a:r>
            <a:endParaRPr lang="en-US" sz="1400" dirty="0"/>
          </a:p>
        </p:txBody>
      </p:sp>
      <p:sp>
        <p:nvSpPr>
          <p:cNvPr id="27" name="Text 25"/>
          <p:cNvSpPr/>
          <p:nvPr/>
        </p:nvSpPr>
        <p:spPr>
          <a:xfrm>
            <a:off x="9010650" y="3540522"/>
            <a:ext cx="2256473"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5150"/>
                </a:solidFill>
                <a:latin typeface="IBM Plex Sans" pitchFamily="34" charset="0"/>
                <a:ea typeface="IBM Plex Sans" pitchFamily="34" charset="-122"/>
                <a:cs typeface="IBM Plex Sans" pitchFamily="34" charset="-120"/>
              </a:rPr>
              <a:t>Actor, time, reason, result; refused attempts too; hash-chained</a:t>
            </a:r>
            <a:endParaRPr lang="en-US" sz="1200" dirty="0"/>
          </a:p>
        </p:txBody>
      </p:sp>
      <p:sp>
        <p:nvSpPr>
          <p:cNvPr id="28" name="Shape 26"/>
          <p:cNvSpPr/>
          <p:nvPr/>
        </p:nvSpPr>
        <p:spPr>
          <a:xfrm>
            <a:off x="812800" y="4538663"/>
            <a:ext cx="10566400" cy="801291"/>
          </a:xfrm>
          <a:prstGeom prst="roundRect">
            <a:avLst>
              <a:gd name="adj" fmla="val 12680"/>
            </a:avLst>
          </a:prstGeom>
          <a:solidFill>
            <a:srgbClr val="0A6866"/>
          </a:solidFill>
          <a:ln/>
        </p:spPr>
      </p:sp>
      <p:sp>
        <p:nvSpPr>
          <p:cNvPr id="29" name="Text 27"/>
          <p:cNvSpPr/>
          <p:nvPr/>
        </p:nvSpPr>
        <p:spPr>
          <a:xfrm>
            <a:off x="1041400" y="4779302"/>
            <a:ext cx="4304535" cy="345414"/>
          </a:xfrm>
          <a:prstGeom prst="rect">
            <a:avLst/>
          </a:prstGeom>
          <a:noFill/>
          <a:ln/>
        </p:spPr>
        <p:txBody>
          <a:bodyPr wrap="none" lIns="0" tIns="0" rIns="0" bIns="0" rtlCol="0" anchor="t">
            <a:normAutofit/>
          </a:bodyPr>
          <a:lstStyle/>
          <a:p>
            <a:pPr algn="l" indent="0" marL="0">
              <a:lnSpc>
                <a:spcPts val="2520"/>
              </a:lnSpc>
              <a:buNone/>
            </a:pPr>
            <a:r>
              <a:rPr lang="en-US" sz="1800" b="1" dirty="0">
                <a:solidFill>
                  <a:srgbClr val="F2F7F6"/>
                </a:solidFill>
                <a:latin typeface="IBM Plex Mono" pitchFamily="49" charset="0"/>
                <a:ea typeface="IBM Plex Mono" pitchFamily="49" charset="-122"/>
                <a:cs typeface="IBM Plex Mono" pitchFamily="49" charset="-120"/>
              </a:rPr>
              <a:t>Verified = Posted + Pending + Unallocated</a:t>
            </a:r>
            <a:endParaRPr lang="en-US" sz="1800" dirty="0"/>
          </a:p>
        </p:txBody>
      </p:sp>
      <p:sp>
        <p:nvSpPr>
          <p:cNvPr id="30" name="Text 28"/>
          <p:cNvSpPr/>
          <p:nvPr/>
        </p:nvSpPr>
        <p:spPr>
          <a:xfrm>
            <a:off x="5398360" y="4716463"/>
            <a:ext cx="592480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DEEEB"/>
                </a:solidFill>
                <a:latin typeface="IBM Plex Sans" pitchFamily="34" charset="0"/>
                <a:ea typeface="IBM Plex Sans" pitchFamily="34" charset="-122"/>
                <a:cs typeface="IBM Plex Sans" pitchFamily="34" charset="-120"/>
              </a:rPr>
              <a:t>Checked daily. The control difference must be ₹0; it held at ₹0 through 72,000 random actions in testing.</a:t>
            </a:r>
            <a:endParaRPr lang="en-US" sz="1300" dirty="0"/>
          </a:p>
        </p:txBody>
      </p:sp>
      <p:sp>
        <p:nvSpPr>
          <p:cNvPr id="31" name="Text 2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D7C"/>
                </a:solidFill>
                <a:latin typeface="IBM Plex Sans" pitchFamily="34" charset="0"/>
                <a:ea typeface="IBM Plex Sans" pitchFamily="34" charset="-122"/>
                <a:cs typeface="IBM Plex Sans" pitchFamily="34" charset="-120"/>
              </a:rPr>
              <a:t>6 · Fee component is never inferred; claims are capped at 5 under review per student; amounts above ₹10 crore are rejected at import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222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5BDB6"/>
                </a:solidFill>
                <a:latin typeface="IBM Plex Sans" pitchFamily="34" charset="0"/>
                <a:ea typeface="IBM Plex Sans" pitchFamily="34" charset="-122"/>
                <a:cs typeface="IBM Plex Sans" pitchFamily="34" charset="-120"/>
              </a:rPr>
              <a:t>WIREFRAMES, BUILT</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2F7F6"/>
                </a:solidFill>
                <a:latin typeface="IBM Plex Sans" pitchFamily="34" charset="0"/>
                <a:ea typeface="IBM Plex Sans" pitchFamily="34" charset="-122"/>
                <a:cs typeface="IBM Plex Sans" pitchFamily="34" charset="-120"/>
              </a:rPr>
              <a:t>The three screens work, not just sketch</a:t>
            </a:r>
            <a:endParaRPr lang="en-US" sz="3200" dirty="0"/>
          </a:p>
        </p:txBody>
      </p:sp>
      <p:sp>
        <p:nvSpPr>
          <p:cNvPr id="4" name="Shape 2"/>
          <p:cNvSpPr/>
          <p:nvPr/>
        </p:nvSpPr>
        <p:spPr>
          <a:xfrm>
            <a:off x="812800" y="1803335"/>
            <a:ext cx="3384550" cy="2114550"/>
          </a:xfrm>
          <a:prstGeom prst="roundRect">
            <a:avLst>
              <a:gd name="adj" fmla="val 3604"/>
            </a:avLst>
          </a:prstGeom>
          <a:solidFill>
            <a:srgbClr val="F2F5F5"/>
          </a:solidFill>
          <a:ln/>
        </p:spPr>
      </p:sp>
      <p:pic>
        <p:nvPicPr>
          <p:cNvPr id="5" name="Image 0" descr="Unmatched payment dashboard listing P1 to P9 with verification, candidates, status and owner">    </p:cNvPr>
          <p:cNvPicPr>
            <a:picLocks noChangeAspect="1"/>
          </p:cNvPicPr>
          <p:nvPr/>
        </p:nvPicPr>
        <p:blipFill>
          <a:blip r:embed="rId1"/>
          <a:srcRect l="-19" r="-19" t="0" b="0"/>
          <a:stretch/>
        </p:blipFill>
        <p:spPr>
          <a:xfrm>
            <a:off x="812800" y="1803335"/>
            <a:ext cx="3384550" cy="2114550"/>
          </a:xfrm>
          <a:prstGeom prst="roundRect">
            <a:avLst>
              <a:gd name="adj" fmla="val 3604"/>
            </a:avLst>
          </a:prstGeom>
        </p:spPr>
      </p:pic>
      <p:sp>
        <p:nvSpPr>
          <p:cNvPr id="6" name="Text 3"/>
          <p:cNvSpPr/>
          <p:nvPr/>
        </p:nvSpPr>
        <p:spPr>
          <a:xfrm>
            <a:off x="812800" y="4032185"/>
            <a:ext cx="348826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F7F6"/>
                </a:solidFill>
                <a:latin typeface="IBM Plex Sans" pitchFamily="34" charset="0"/>
                <a:ea typeface="IBM Plex Sans" pitchFamily="34" charset="-122"/>
                <a:cs typeface="IBM Plex Sans" pitchFamily="34" charset="-120"/>
              </a:rPr>
              <a:t>1 · Unmatched payments</a:t>
            </a:r>
            <a:endParaRPr lang="en-US" sz="1400" dirty="0"/>
          </a:p>
        </p:txBody>
      </p:sp>
      <p:sp>
        <p:nvSpPr>
          <p:cNvPr id="7" name="Text 4"/>
          <p:cNvSpPr/>
          <p:nvPr/>
        </p:nvSpPr>
        <p:spPr>
          <a:xfrm>
            <a:off x="812800" y="4359805"/>
            <a:ext cx="348826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D1"/>
                </a:solidFill>
                <a:latin typeface="IBM Plex Sans" pitchFamily="34" charset="0"/>
                <a:ea typeface="IBM Plex Sans" pitchFamily="34" charset="-122"/>
                <a:cs typeface="IBM Plex Sans" pitchFamily="34" charset="-120"/>
              </a:rPr>
              <a:t>Stage tiles, evidence gap, candidates with confidence, next action, owner and age</a:t>
            </a:r>
            <a:endParaRPr lang="en-US" sz="1200" dirty="0"/>
          </a:p>
        </p:txBody>
      </p:sp>
      <p:sp>
        <p:nvSpPr>
          <p:cNvPr id="8" name="Shape 5"/>
          <p:cNvSpPr/>
          <p:nvPr/>
        </p:nvSpPr>
        <p:spPr>
          <a:xfrm>
            <a:off x="4402667" y="1803335"/>
            <a:ext cx="3384550" cy="2114550"/>
          </a:xfrm>
          <a:prstGeom prst="roundRect">
            <a:avLst>
              <a:gd name="adj" fmla="val 3604"/>
            </a:avLst>
          </a:prstGeom>
          <a:solidFill>
            <a:srgbClr val="F2F5F5"/>
          </a:solidFill>
          <a:ln/>
        </p:spPr>
      </p:sp>
      <p:pic>
        <p:nvPicPr>
          <p:cNvPr id="9" name="Image 1" descr="Student fee ledger for Zara Ali showing admission and tuition balances, a posted payment and the P8 reversal">    </p:cNvPr>
          <p:cNvPicPr>
            <a:picLocks noChangeAspect="1"/>
          </p:cNvPicPr>
          <p:nvPr/>
        </p:nvPicPr>
        <p:blipFill>
          <a:blip r:embed="rId2"/>
          <a:srcRect l="-19" r="-19" t="0" b="0"/>
          <a:stretch/>
        </p:blipFill>
        <p:spPr>
          <a:xfrm>
            <a:off x="4402667" y="1803335"/>
            <a:ext cx="3384550" cy="2114550"/>
          </a:xfrm>
          <a:prstGeom prst="roundRect">
            <a:avLst>
              <a:gd name="adj" fmla="val 3604"/>
            </a:avLst>
          </a:prstGeom>
        </p:spPr>
      </p:pic>
      <p:sp>
        <p:nvSpPr>
          <p:cNvPr id="10" name="Text 6"/>
          <p:cNvSpPr/>
          <p:nvPr/>
        </p:nvSpPr>
        <p:spPr>
          <a:xfrm>
            <a:off x="4402667" y="4032185"/>
            <a:ext cx="348826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F7F6"/>
                </a:solidFill>
                <a:latin typeface="IBM Plex Sans" pitchFamily="34" charset="0"/>
                <a:ea typeface="IBM Plex Sans" pitchFamily="34" charset="-122"/>
                <a:cs typeface="IBM Plex Sans" pitchFamily="34" charset="-120"/>
              </a:rPr>
              <a:t>2 · Student fee ledger</a:t>
            </a:r>
            <a:endParaRPr lang="en-US" sz="1400" dirty="0"/>
          </a:p>
        </p:txBody>
      </p:sp>
      <p:sp>
        <p:nvSpPr>
          <p:cNvPr id="11" name="Text 7"/>
          <p:cNvSpPr/>
          <p:nvPr/>
        </p:nvSpPr>
        <p:spPr>
          <a:xfrm>
            <a:off x="4402667" y="4359805"/>
            <a:ext cx="348826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D1"/>
                </a:solidFill>
                <a:latin typeface="IBM Plex Sans" pitchFamily="34" charset="0"/>
                <a:ea typeface="IBM Plex Sans" pitchFamily="34" charset="-122"/>
                <a:cs typeface="IBM Plex Sans" pitchFamily="34" charset="-120"/>
              </a:rPr>
              <a:t>Recognised payments only; claims shown apart as “being checked”; adjusted receipts</a:t>
            </a:r>
            <a:endParaRPr lang="en-US" sz="1200" dirty="0"/>
          </a:p>
        </p:txBody>
      </p:sp>
      <p:sp>
        <p:nvSpPr>
          <p:cNvPr id="12" name="Shape 8"/>
          <p:cNvSpPr/>
          <p:nvPr/>
        </p:nvSpPr>
        <p:spPr>
          <a:xfrm>
            <a:off x="7992534" y="1803335"/>
            <a:ext cx="3384550" cy="2114550"/>
          </a:xfrm>
          <a:prstGeom prst="roundRect">
            <a:avLst>
              <a:gd name="adj" fmla="val 3604"/>
            </a:avLst>
          </a:prstGeom>
          <a:solidFill>
            <a:srgbClr val="F2F5F5"/>
          </a:solidFill>
          <a:ln/>
        </p:spPr>
      </p:sp>
      <p:pic>
        <p:nvPicPr>
          <p:cNvPr id="13" name="Image 2" descr="Reconciliation detail for P6 with source evidence, duplicate check, candidates and a two-line split allocation">    </p:cNvPr>
          <p:cNvPicPr>
            <a:picLocks noChangeAspect="1"/>
          </p:cNvPicPr>
          <p:nvPr/>
        </p:nvPicPr>
        <p:blipFill>
          <a:blip r:embed="rId3"/>
          <a:srcRect l="-19" r="-19" t="0" b="0"/>
          <a:stretch/>
        </p:blipFill>
        <p:spPr>
          <a:xfrm>
            <a:off x="7992534" y="1803335"/>
            <a:ext cx="3384550" cy="2114550"/>
          </a:xfrm>
          <a:prstGeom prst="roundRect">
            <a:avLst>
              <a:gd name="adj" fmla="val 3604"/>
            </a:avLst>
          </a:prstGeom>
        </p:spPr>
      </p:pic>
      <p:sp>
        <p:nvSpPr>
          <p:cNvPr id="14" name="Text 9"/>
          <p:cNvSpPr/>
          <p:nvPr/>
        </p:nvSpPr>
        <p:spPr>
          <a:xfrm>
            <a:off x="7992534" y="4032185"/>
            <a:ext cx="348826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F7F6"/>
                </a:solidFill>
                <a:latin typeface="IBM Plex Sans" pitchFamily="34" charset="0"/>
                <a:ea typeface="IBM Plex Sans" pitchFamily="34" charset="-122"/>
                <a:cs typeface="IBM Plex Sans" pitchFamily="34" charset="-120"/>
              </a:rPr>
              <a:t>3 · Reconciliation detail</a:t>
            </a:r>
            <a:endParaRPr lang="en-US" sz="1400" dirty="0"/>
          </a:p>
        </p:txBody>
      </p:sp>
      <p:sp>
        <p:nvSpPr>
          <p:cNvPr id="15" name="Text 10"/>
          <p:cNvSpPr/>
          <p:nvPr/>
        </p:nvSpPr>
        <p:spPr>
          <a:xfrm>
            <a:off x="7992534" y="4359805"/>
            <a:ext cx="348826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D1"/>
                </a:solidFill>
                <a:latin typeface="IBM Plex Sans" pitchFamily="34" charset="0"/>
                <a:ea typeface="IBM Plex Sans" pitchFamily="34" charset="-122"/>
                <a:cs typeface="IBM Plex Sans" pitchFamily="34" charset="-120"/>
              </a:rPr>
              <a:t>Evidence, gates 1–5, allocation editor with live checks, approvals, audit history</a:t>
            </a:r>
            <a:endParaRPr lang="en-US" sz="1200" dirty="0"/>
          </a:p>
        </p:txBody>
      </p:sp>
      <p:sp>
        <p:nvSpPr>
          <p:cNvPr id="16"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AA8"/>
                </a:solidFill>
                <a:latin typeface="IBM Plex Sans" pitchFamily="34" charset="0"/>
                <a:ea typeface="IBM Plex Sans" pitchFamily="34" charset="-122"/>
                <a:cs typeface="IBM Plex Sans" pitchFamily="34" charset="-120"/>
              </a:rPr>
              <a:t>7 · Live: published preview with role switcher · installed C# app with real sign-in per role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A6866"/>
                </a:solidFill>
                <a:latin typeface="IBM Plex Sans" pitchFamily="34" charset="0"/>
                <a:ea typeface="IBM Plex Sans" pitchFamily="34" charset="-122"/>
                <a:cs typeface="IBM Plex Sans" pitchFamily="34" charset="-120"/>
              </a:rPr>
              <a:t>DEVELOPMENT-READY PRD</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221"/>
                </a:solidFill>
                <a:latin typeface="IBM Plex Sans" pitchFamily="34" charset="0"/>
                <a:ea typeface="IBM Plex Sans" pitchFamily="34" charset="-122"/>
                <a:cs typeface="IBM Plex Sans" pitchFamily="34" charset="-120"/>
              </a:rPr>
              <a:t>Separate states, minimum data, explicit permissions</a:t>
            </a:r>
            <a:endParaRPr lang="en-US" sz="3200" dirty="0"/>
          </a:p>
        </p:txBody>
      </p:sp>
      <p:sp>
        <p:nvSpPr>
          <p:cNvPr id="4" name="Shape 2"/>
          <p:cNvSpPr/>
          <p:nvPr/>
        </p:nvSpPr>
        <p:spPr>
          <a:xfrm>
            <a:off x="815975" y="1781110"/>
            <a:ext cx="5200650" cy="1287198"/>
          </a:xfrm>
          <a:prstGeom prst="roundRect">
            <a:avLst>
              <a:gd name="adj" fmla="val 6660"/>
            </a:avLst>
          </a:prstGeom>
          <a:solidFill>
            <a:srgbClr val="FBFCFC"/>
          </a:solidFill>
          <a:ln w="6350">
            <a:solidFill>
              <a:srgbClr val="D4DEDE"/>
            </a:solidFill>
            <a:prstDash val="solid"/>
          </a:ln>
        </p:spPr>
      </p:sp>
      <p:sp>
        <p:nvSpPr>
          <p:cNvPr id="5" name="Text 3"/>
          <p:cNvSpPr/>
          <p:nvPr/>
        </p:nvSpPr>
        <p:spPr>
          <a:xfrm>
            <a:off x="1020233" y="1959967"/>
            <a:ext cx="493589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6866"/>
                </a:solidFill>
                <a:latin typeface="IBM Plex Sans" pitchFamily="34" charset="0"/>
                <a:ea typeface="IBM Plex Sans" pitchFamily="34" charset="-122"/>
                <a:cs typeface="IBM Plex Sans" pitchFamily="34" charset="-120"/>
              </a:rPr>
              <a:t>State models, one per question</a:t>
            </a:r>
            <a:endParaRPr lang="en-US" sz="1400" dirty="0"/>
          </a:p>
        </p:txBody>
      </p:sp>
      <p:sp>
        <p:nvSpPr>
          <p:cNvPr id="6" name="Text 4"/>
          <p:cNvSpPr/>
          <p:nvPr/>
        </p:nvSpPr>
        <p:spPr>
          <a:xfrm>
            <a:off x="1020233" y="2249488"/>
            <a:ext cx="4935897"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221"/>
                </a:solidFill>
                <a:latin typeface="IBM Plex Sans" pitchFamily="34" charset="0"/>
                <a:ea typeface="IBM Plex Sans" pitchFamily="34" charset="-122"/>
                <a:cs typeface="IBM Plex Sans" pitchFamily="34" charset="-120"/>
              </a:rPr>
              <a:t>Verification</a:t>
            </a:r>
            <a:r>
              <a:rPr lang="en-US" sz="1200" dirty="0">
                <a:solidFill>
                  <a:srgbClr val="3D5150"/>
                </a:solidFill>
                <a:latin typeface="IBM Plex Sans" pitchFamily="34" charset="0"/>
                <a:ea typeface="IBM Plex Sans" pitchFamily="34" charset="-122"/>
                <a:cs typeface="IBM Plex Sans" pitchFamily="34" charset="-120"/>
              </a:rPr>
              <a:t> claimed → verified · </a:t>
            </a:r>
            <a:r>
              <a:rPr lang="en-US" sz="1200" b="1" dirty="0">
                <a:solidFill>
                  <a:srgbClr val="122221"/>
                </a:solidFill>
                <a:latin typeface="IBM Plex Sans" pitchFamily="34" charset="0"/>
                <a:ea typeface="IBM Plex Sans" pitchFamily="34" charset="-122"/>
                <a:cs typeface="IBM Plex Sans" pitchFamily="34" charset="-120"/>
              </a:rPr>
              <a:t>Identification</a:t>
            </a:r>
            <a:r>
              <a:rPr lang="en-US" sz="1200" dirty="0">
                <a:solidFill>
                  <a:srgbClr val="3D5150"/>
                </a:solidFill>
                <a:latin typeface="IBM Plex Sans" pitchFamily="34" charset="0"/>
                <a:ea typeface="IBM Plex Sans" pitchFamily="34" charset="-122"/>
                <a:cs typeface="IBM Plex Sans" pitchFamily="34" charset="-120"/>
              </a:rPr>
              <a:t> unmatched → candidate → matched · </a:t>
            </a:r>
            <a:r>
              <a:rPr lang="en-US" sz="1200" b="1" dirty="0">
                <a:solidFill>
                  <a:srgbClr val="122221"/>
                </a:solidFill>
                <a:latin typeface="IBM Plex Sans" pitchFamily="34" charset="0"/>
                <a:ea typeface="IBM Plex Sans" pitchFamily="34" charset="-122"/>
                <a:cs typeface="IBM Plex Sans" pitchFamily="34" charset="-120"/>
              </a:rPr>
              <a:t>Allocation</a:t>
            </a:r>
            <a:r>
              <a:rPr lang="en-US" sz="1200" dirty="0">
                <a:solidFill>
                  <a:srgbClr val="3D5150"/>
                </a:solidFill>
                <a:latin typeface="IBM Plex Sans" pitchFamily="34" charset="0"/>
                <a:ea typeface="IBM Plex Sans" pitchFamily="34" charset="-122"/>
                <a:cs typeface="IBM Plex Sans" pitchFamily="34" charset="-120"/>
              </a:rPr>
              <a:t> proposed → approved → posted · </a:t>
            </a:r>
            <a:r>
              <a:rPr lang="en-US" sz="1200" b="1" dirty="0">
                <a:solidFill>
                  <a:srgbClr val="122221"/>
                </a:solidFill>
                <a:latin typeface="IBM Plex Sans" pitchFamily="34" charset="0"/>
                <a:ea typeface="IBM Plex Sans" pitchFamily="34" charset="-122"/>
                <a:cs typeface="IBM Plex Sans" pitchFamily="34" charset="-120"/>
              </a:rPr>
              <a:t>Receipt</a:t>
            </a:r>
            <a:r>
              <a:rPr lang="en-US" sz="1200" dirty="0">
                <a:solidFill>
                  <a:srgbClr val="3D5150"/>
                </a:solidFill>
                <a:latin typeface="IBM Plex Sans" pitchFamily="34" charset="0"/>
                <a:ea typeface="IBM Plex Sans" pitchFamily="34" charset="-122"/>
                <a:cs typeface="IBM Plex Sans" pitchFamily="34" charset="-120"/>
              </a:rPr>
              <a:t> issued → adjusted · </a:t>
            </a:r>
            <a:r>
              <a:rPr lang="en-US" sz="1200" b="1" dirty="0">
                <a:solidFill>
                  <a:srgbClr val="122221"/>
                </a:solidFill>
                <a:latin typeface="IBM Plex Sans" pitchFamily="34" charset="0"/>
                <a:ea typeface="IBM Plex Sans" pitchFamily="34" charset="-122"/>
                <a:cs typeface="IBM Plex Sans" pitchFamily="34" charset="-120"/>
              </a:rPr>
              <a:t>Reversal</a:t>
            </a:r>
            <a:r>
              <a:rPr lang="en-US" sz="1200" dirty="0">
                <a:solidFill>
                  <a:srgbClr val="3D5150"/>
                </a:solidFill>
                <a:latin typeface="IBM Plex Sans" pitchFamily="34" charset="0"/>
                <a:ea typeface="IBM Plex Sans" pitchFamily="34" charset="-122"/>
                <a:cs typeface="IBM Plex Sans" pitchFamily="34" charset="-120"/>
              </a:rPr>
              <a:t> requested → applied</a:t>
            </a:r>
            <a:endParaRPr lang="en-US" sz="1200" dirty="0"/>
          </a:p>
        </p:txBody>
      </p:sp>
      <p:sp>
        <p:nvSpPr>
          <p:cNvPr id="7" name="Shape 5"/>
          <p:cNvSpPr/>
          <p:nvPr/>
        </p:nvSpPr>
        <p:spPr>
          <a:xfrm>
            <a:off x="6175375" y="1781110"/>
            <a:ext cx="5200650" cy="1287198"/>
          </a:xfrm>
          <a:prstGeom prst="roundRect">
            <a:avLst>
              <a:gd name="adj" fmla="val 6660"/>
            </a:avLst>
          </a:prstGeom>
          <a:solidFill>
            <a:srgbClr val="FBFCFC"/>
          </a:solidFill>
          <a:ln w="6350">
            <a:solidFill>
              <a:srgbClr val="D4DEDE"/>
            </a:solidFill>
            <a:prstDash val="solid"/>
          </a:ln>
        </p:spPr>
      </p:sp>
      <p:sp>
        <p:nvSpPr>
          <p:cNvPr id="8" name="Text 6"/>
          <p:cNvSpPr/>
          <p:nvPr/>
        </p:nvSpPr>
        <p:spPr>
          <a:xfrm>
            <a:off x="6379633" y="1959967"/>
            <a:ext cx="493589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6866"/>
                </a:solidFill>
                <a:latin typeface="IBM Plex Sans" pitchFamily="34" charset="0"/>
                <a:ea typeface="IBM Plex Sans" pitchFamily="34" charset="-122"/>
                <a:cs typeface="IBM Plex Sans" pitchFamily="34" charset="-120"/>
              </a:rPr>
              <a:t>Minimum data entities</a:t>
            </a:r>
            <a:endParaRPr lang="en-US" sz="1400" dirty="0"/>
          </a:p>
        </p:txBody>
      </p:sp>
      <p:sp>
        <p:nvSpPr>
          <p:cNvPr id="9" name="Text 7"/>
          <p:cNvSpPr/>
          <p:nvPr/>
        </p:nvSpPr>
        <p:spPr>
          <a:xfrm>
            <a:off x="6379633" y="2249488"/>
            <a:ext cx="493589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5150"/>
                </a:solidFill>
                <a:latin typeface="IBM Plex Sans" pitchFamily="34" charset="0"/>
                <a:ea typeface="IBM Plex Sans" pitchFamily="34" charset="-122"/>
                <a:cs typeface="IBM Plex Sans" pitchFamily="34" charset="-120"/>
              </a:rPr>
              <a:t>Payment source record · student claim · cash report · match candidate · allocation proposal + lines · ledger entry · receipt · reversal / correction · case · audit event</a:t>
            </a:r>
            <a:endParaRPr lang="en-US" sz="1200" dirty="0"/>
          </a:p>
        </p:txBody>
      </p:sp>
      <p:sp>
        <p:nvSpPr>
          <p:cNvPr id="10" name="Shape 8"/>
          <p:cNvSpPr/>
          <p:nvPr/>
        </p:nvSpPr>
        <p:spPr>
          <a:xfrm>
            <a:off x="815975" y="3227059"/>
            <a:ext cx="5200650" cy="1287198"/>
          </a:xfrm>
          <a:prstGeom prst="roundRect">
            <a:avLst>
              <a:gd name="adj" fmla="val 6660"/>
            </a:avLst>
          </a:prstGeom>
          <a:solidFill>
            <a:srgbClr val="FBFCFC"/>
          </a:solidFill>
          <a:ln w="6350">
            <a:solidFill>
              <a:srgbClr val="D4DEDE"/>
            </a:solidFill>
            <a:prstDash val="solid"/>
          </a:ln>
        </p:spPr>
      </p:sp>
      <p:sp>
        <p:nvSpPr>
          <p:cNvPr id="11" name="Text 9"/>
          <p:cNvSpPr/>
          <p:nvPr/>
        </p:nvSpPr>
        <p:spPr>
          <a:xfrm>
            <a:off x="1020233" y="3405916"/>
            <a:ext cx="493589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6866"/>
                </a:solidFill>
                <a:latin typeface="IBM Plex Sans" pitchFamily="34" charset="0"/>
                <a:ea typeface="IBM Plex Sans" pitchFamily="34" charset="-122"/>
                <a:cs typeface="IBM Plex Sans" pitchFamily="34" charset="-120"/>
              </a:rPr>
              <a:t>Permissions, by person</a:t>
            </a:r>
            <a:endParaRPr lang="en-US" sz="1400" dirty="0"/>
          </a:p>
        </p:txBody>
      </p:sp>
      <p:sp>
        <p:nvSpPr>
          <p:cNvPr id="12" name="Text 10"/>
          <p:cNvSpPr/>
          <p:nvPr/>
        </p:nvSpPr>
        <p:spPr>
          <a:xfrm>
            <a:off x="1020233" y="3695436"/>
            <a:ext cx="493589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5150"/>
                </a:solidFill>
                <a:latin typeface="IBM Plex Sans" pitchFamily="34" charset="0"/>
                <a:ea typeface="IBM Plex Sans" pitchFamily="34" charset="-122"/>
                <a:cs typeface="IBM Plex Sans" pitchFamily="34" charset="-120"/>
              </a:rPr>
              <a:t>Student: own data only · Counsellor: report cash · Operations: match, propose, cases · Finance: import, verify, approve others’ work, reverse · Admin: roles and policy, no money</a:t>
            </a:r>
            <a:endParaRPr lang="en-US" sz="1200" dirty="0"/>
          </a:p>
        </p:txBody>
      </p:sp>
      <p:sp>
        <p:nvSpPr>
          <p:cNvPr id="13" name="Shape 11"/>
          <p:cNvSpPr/>
          <p:nvPr/>
        </p:nvSpPr>
        <p:spPr>
          <a:xfrm>
            <a:off x="6172200" y="3223884"/>
            <a:ext cx="5207000" cy="1293548"/>
          </a:xfrm>
          <a:prstGeom prst="roundRect">
            <a:avLst>
              <a:gd name="adj" fmla="val 6873"/>
            </a:avLst>
          </a:prstGeom>
          <a:solidFill>
            <a:srgbClr val="FBEFD9"/>
          </a:solidFill>
          <a:ln/>
        </p:spPr>
      </p:sp>
      <p:sp>
        <p:nvSpPr>
          <p:cNvPr id="14" name="Text 12"/>
          <p:cNvSpPr/>
          <p:nvPr/>
        </p:nvSpPr>
        <p:spPr>
          <a:xfrm>
            <a:off x="6375400" y="3401684"/>
            <a:ext cx="494461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A5300"/>
                </a:solidFill>
                <a:latin typeface="IBM Plex Sans" pitchFamily="34" charset="0"/>
                <a:ea typeface="IBM Plex Sans" pitchFamily="34" charset="-122"/>
                <a:cs typeface="IBM Plex Sans" pitchFamily="34" charset="-120"/>
              </a:rPr>
              <a:t>Open decisions owned by Finance</a:t>
            </a:r>
            <a:endParaRPr lang="en-US" sz="1400" dirty="0"/>
          </a:p>
        </p:txBody>
      </p:sp>
      <p:sp>
        <p:nvSpPr>
          <p:cNvPr id="15" name="Text 13"/>
          <p:cNvSpPr/>
          <p:nvPr/>
        </p:nvSpPr>
        <p:spPr>
          <a:xfrm>
            <a:off x="6375400" y="3691204"/>
            <a:ext cx="494461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5150"/>
                </a:solidFill>
                <a:latin typeface="IBM Plex Sans" pitchFamily="34" charset="0"/>
                <a:ea typeface="IBM Plex Sans" pitchFamily="34" charset="-122"/>
                <a:cs typeface="IBM Plex Sans" pitchFamily="34" charset="-120"/>
              </a:rPr>
              <a:t>A-01 fee-component order · A-02 cash deposit window · A-03 match evidence standard · A-04 refund vs credit for excess · A-05 single-approval threshold · A-06 receipt numbering</a:t>
            </a:r>
            <a:endParaRPr lang="en-US" sz="1200" dirty="0"/>
          </a:p>
        </p:txBody>
      </p:sp>
      <p:sp>
        <p:nvSpPr>
          <p:cNvPr id="16" name="Text 14"/>
          <p:cNvSpPr/>
          <p:nvPr/>
        </p:nvSpPr>
        <p:spPr>
          <a:xfrm>
            <a:off x="812800" y="474603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221"/>
                </a:solidFill>
                <a:latin typeface="IBM Plex Sans" pitchFamily="34" charset="0"/>
                <a:ea typeface="IBM Plex Sans" pitchFamily="34" charset="-122"/>
                <a:cs typeface="IBM Plex Sans" pitchFamily="34" charset="-120"/>
              </a:rPr>
              <a:t>Integrations:</a:t>
            </a:r>
            <a:r>
              <a:rPr lang="en-US" sz="1200" dirty="0">
                <a:solidFill>
                  <a:srgbClr val="3D5150"/>
                </a:solidFill>
                <a:latin typeface="IBM Plex Sans" pitchFamily="34" charset="0"/>
                <a:ea typeface="IBM Plex Sans" pitchFamily="34" charset="-122"/>
                <a:cs typeface="IBM Plex Sans" pitchFamily="34" charset="-120"/>
              </a:rPr>
              <a:t> bank statement feed in, student-system posting out (idempotent). </a:t>
            </a:r>
            <a:r>
              <a:rPr lang="en-US" sz="1200" b="1" dirty="0">
                <a:solidFill>
                  <a:srgbClr val="122221"/>
                </a:solidFill>
                <a:latin typeface="IBM Plex Sans" pitchFamily="34" charset="0"/>
                <a:ea typeface="IBM Plex Sans" pitchFamily="34" charset="-122"/>
                <a:cs typeface="IBM Plex Sans" pitchFamily="34" charset="-120"/>
              </a:rPr>
              <a:t>Non-functional:</a:t>
            </a:r>
            <a:r>
              <a:rPr lang="en-US" sz="1200" dirty="0">
                <a:solidFill>
                  <a:srgbClr val="3D5150"/>
                </a:solidFill>
                <a:latin typeface="IBM Plex Sans" pitchFamily="34" charset="0"/>
                <a:ea typeface="IBM Plex Sans" pitchFamily="34" charset="-122"/>
                <a:cs typeface="IBM Plex Sans" pitchFamily="34" charset="-120"/>
              </a:rPr>
              <a:t> every action audited, role-filtered data, posting retry-safe, daily reconciliation export.</a:t>
            </a:r>
            <a:endParaRPr lang="en-US" sz="12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D7C"/>
                </a:solidFill>
                <a:latin typeface="IBM Plex Sans" pitchFamily="34" charset="0"/>
                <a:ea typeface="IBM Plex Sans" pitchFamily="34" charset="-122"/>
                <a:cs typeface="IBM Plex Sans" pitchFamily="34" charset="-120"/>
              </a:rPr>
              <a:t>8 · Full PRD with 16 acceptance criteria and the payment decision matrix submitted alongside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CF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A6866"/>
                </a:solidFill>
                <a:latin typeface="IBM Plex Sans" pitchFamily="34" charset="0"/>
                <a:ea typeface="IBM Plex Sans" pitchFamily="34" charset="-122"/>
                <a:cs typeface="IBM Plex Sans" pitchFamily="34" charset="-120"/>
              </a:rPr>
              <a:t>ENGINEERING AND QA HANDOFF</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221"/>
                </a:solidFill>
                <a:latin typeface="IBM Plex Sans" pitchFamily="34" charset="0"/>
                <a:ea typeface="IBM Plex Sans" pitchFamily="34" charset="-122"/>
                <a:cs typeface="IBM Plex Sans" pitchFamily="34" charset="-120"/>
              </a:rPr>
              <a:t>Five questions to settle before sprint one</a:t>
            </a:r>
            <a:endParaRPr lang="en-US" sz="3200" dirty="0"/>
          </a:p>
        </p:txBody>
      </p:sp>
      <p:sp>
        <p:nvSpPr>
          <p:cNvPr id="4" name="Text 2"/>
          <p:cNvSpPr/>
          <p:nvPr/>
        </p:nvSpPr>
        <p:spPr>
          <a:xfrm>
            <a:off x="812800" y="1777938"/>
            <a:ext cx="5624909" cy="441920"/>
          </a:xfrm>
          <a:prstGeom prst="roundRect">
            <a:avLst>
              <a:gd name="adj" fmla="val 17243"/>
            </a:avLst>
          </a:prstGeom>
          <a:solidFill>
            <a:srgbClr val="F2F5F5"/>
          </a:solidFill>
          <a:ln/>
        </p:spPr>
        <p:txBody>
          <a:bodyPr wrap="square" lIns="130082" tIns="91982" rIns="0" bIns="66582" rtlCol="0" anchor="t">
            <a:normAutofit/>
          </a:bodyPr>
          <a:lstStyle/>
          <a:p>
            <a:pPr algn="l" indent="0" marL="0">
              <a:lnSpc>
                <a:spcPts val="1680"/>
              </a:lnSpc>
              <a:buNone/>
            </a:pPr>
            <a:r>
              <a:rPr lang="en-US" sz="1200" b="1" dirty="0">
                <a:solidFill>
                  <a:srgbClr val="0A6866"/>
                </a:solidFill>
                <a:latin typeface="IBM Plex Sans" pitchFamily="34" charset="0"/>
                <a:ea typeface="IBM Plex Sans" pitchFamily="34" charset="-122"/>
                <a:cs typeface="IBM Plex Sans" pitchFamily="34" charset="-120"/>
              </a:rPr>
              <a:t>1 ·</a:t>
            </a:r>
            <a:r>
              <a:rPr lang="en-US" sz="1200" dirty="0">
                <a:solidFill>
                  <a:srgbClr val="122221"/>
                </a:solidFill>
                <a:latin typeface="IBM Plex Sans" pitchFamily="34" charset="0"/>
                <a:ea typeface="IBM Plex Sans" pitchFamily="34" charset="-122"/>
                <a:cs typeface="IBM Plex Sans" pitchFamily="34" charset="-120"/>
              </a:rPr>
              <a:t> Bank feed: source, format, and is the UTR unique per bank?</a:t>
            </a:r>
            <a:endParaRPr lang="en-US" sz="1200" dirty="0"/>
          </a:p>
        </p:txBody>
      </p:sp>
      <p:sp>
        <p:nvSpPr>
          <p:cNvPr id="5" name="Text 3"/>
          <p:cNvSpPr/>
          <p:nvPr/>
        </p:nvSpPr>
        <p:spPr>
          <a:xfrm>
            <a:off x="812800" y="2321458"/>
            <a:ext cx="5624909" cy="441920"/>
          </a:xfrm>
          <a:prstGeom prst="roundRect">
            <a:avLst>
              <a:gd name="adj" fmla="val 17243"/>
            </a:avLst>
          </a:prstGeom>
          <a:solidFill>
            <a:srgbClr val="F2F5F5"/>
          </a:solidFill>
          <a:ln/>
        </p:spPr>
        <p:txBody>
          <a:bodyPr wrap="square" lIns="130082" tIns="91982" rIns="0" bIns="66582" rtlCol="0" anchor="t">
            <a:normAutofit/>
          </a:bodyPr>
          <a:lstStyle/>
          <a:p>
            <a:pPr algn="l" indent="0" marL="0">
              <a:lnSpc>
                <a:spcPts val="1680"/>
              </a:lnSpc>
              <a:buNone/>
            </a:pPr>
            <a:r>
              <a:rPr lang="en-US" sz="1200" b="1" dirty="0">
                <a:solidFill>
                  <a:srgbClr val="0A6866"/>
                </a:solidFill>
                <a:latin typeface="IBM Plex Sans" pitchFamily="34" charset="0"/>
                <a:ea typeface="IBM Plex Sans" pitchFamily="34" charset="-122"/>
                <a:cs typeface="IBM Plex Sans" pitchFamily="34" charset="-120"/>
              </a:rPr>
              <a:t>2 ·</a:t>
            </a:r>
            <a:r>
              <a:rPr lang="en-US" sz="1200" dirty="0">
                <a:solidFill>
                  <a:srgbClr val="122221"/>
                </a:solidFill>
                <a:latin typeface="IBM Plex Sans" pitchFamily="34" charset="0"/>
                <a:ea typeface="IBM Plex Sans" pitchFamily="34" charset="-122"/>
                <a:cs typeface="IBM Plex Sans" pitchFamily="34" charset="-120"/>
              </a:rPr>
              <a:t> Student system: write contract and idempotency key for postings</a:t>
            </a:r>
            <a:endParaRPr lang="en-US" sz="1200" dirty="0"/>
          </a:p>
        </p:txBody>
      </p:sp>
      <p:sp>
        <p:nvSpPr>
          <p:cNvPr id="6" name="Text 4"/>
          <p:cNvSpPr/>
          <p:nvPr/>
        </p:nvSpPr>
        <p:spPr>
          <a:xfrm>
            <a:off x="812800" y="2864979"/>
            <a:ext cx="5624909" cy="441920"/>
          </a:xfrm>
          <a:prstGeom prst="roundRect">
            <a:avLst>
              <a:gd name="adj" fmla="val 17243"/>
            </a:avLst>
          </a:prstGeom>
          <a:solidFill>
            <a:srgbClr val="F2F5F5"/>
          </a:solidFill>
          <a:ln/>
        </p:spPr>
        <p:txBody>
          <a:bodyPr wrap="square" lIns="130082" tIns="91982" rIns="0" bIns="66582" rtlCol="0" anchor="t">
            <a:normAutofit/>
          </a:bodyPr>
          <a:lstStyle/>
          <a:p>
            <a:pPr algn="l" indent="0" marL="0">
              <a:lnSpc>
                <a:spcPts val="1680"/>
              </a:lnSpc>
              <a:buNone/>
            </a:pPr>
            <a:r>
              <a:rPr lang="en-US" sz="1200" b="1" dirty="0">
                <a:solidFill>
                  <a:srgbClr val="0A6866"/>
                </a:solidFill>
                <a:latin typeface="IBM Plex Sans" pitchFamily="34" charset="0"/>
                <a:ea typeface="IBM Plex Sans" pitchFamily="34" charset="-122"/>
                <a:cs typeface="IBM Plex Sans" pitchFamily="34" charset="-120"/>
              </a:rPr>
              <a:t>3 ·</a:t>
            </a:r>
            <a:r>
              <a:rPr lang="en-US" sz="1200" dirty="0">
                <a:solidFill>
                  <a:srgbClr val="122221"/>
                </a:solidFill>
                <a:latin typeface="IBM Plex Sans" pitchFamily="34" charset="0"/>
                <a:ea typeface="IBM Plex Sans" pitchFamily="34" charset="-122"/>
                <a:cs typeface="IBM Plex Sans" pitchFamily="34" charset="-120"/>
              </a:rPr>
              <a:t> Concurrency: record versioning when two reviewers act at once</a:t>
            </a:r>
            <a:endParaRPr lang="en-US" sz="1200" dirty="0"/>
          </a:p>
        </p:txBody>
      </p:sp>
      <p:sp>
        <p:nvSpPr>
          <p:cNvPr id="7" name="Text 5"/>
          <p:cNvSpPr/>
          <p:nvPr/>
        </p:nvSpPr>
        <p:spPr>
          <a:xfrm>
            <a:off x="812800" y="3408499"/>
            <a:ext cx="5624909" cy="441920"/>
          </a:xfrm>
          <a:prstGeom prst="roundRect">
            <a:avLst>
              <a:gd name="adj" fmla="val 17243"/>
            </a:avLst>
          </a:prstGeom>
          <a:solidFill>
            <a:srgbClr val="F2F5F5"/>
          </a:solidFill>
          <a:ln/>
        </p:spPr>
        <p:txBody>
          <a:bodyPr wrap="square" lIns="130082" tIns="91982" rIns="0" bIns="66582" rtlCol="0" anchor="t">
            <a:normAutofit/>
          </a:bodyPr>
          <a:lstStyle/>
          <a:p>
            <a:pPr algn="l" indent="0" marL="0">
              <a:lnSpc>
                <a:spcPts val="1680"/>
              </a:lnSpc>
              <a:buNone/>
            </a:pPr>
            <a:r>
              <a:rPr lang="en-US" sz="1200" b="1" dirty="0">
                <a:solidFill>
                  <a:srgbClr val="0A6866"/>
                </a:solidFill>
                <a:latin typeface="IBM Plex Sans" pitchFamily="34" charset="0"/>
                <a:ea typeface="IBM Plex Sans" pitchFamily="34" charset="-122"/>
                <a:cs typeface="IBM Plex Sans" pitchFamily="34" charset="-120"/>
              </a:rPr>
              <a:t>4 ·</a:t>
            </a:r>
            <a:r>
              <a:rPr lang="en-US" sz="1200" dirty="0">
                <a:solidFill>
                  <a:srgbClr val="122221"/>
                </a:solidFill>
                <a:latin typeface="IBM Plex Sans" pitchFamily="34" charset="0"/>
                <a:ea typeface="IBM Plex Sans" pitchFamily="34" charset="-122"/>
                <a:cs typeface="IBM Plex Sans" pitchFamily="34" charset="-120"/>
              </a:rPr>
              <a:t> Ledger of record and the daily reconciliation job</a:t>
            </a:r>
            <a:endParaRPr lang="en-US" sz="1200" dirty="0"/>
          </a:p>
        </p:txBody>
      </p:sp>
      <p:sp>
        <p:nvSpPr>
          <p:cNvPr id="8" name="Text 6"/>
          <p:cNvSpPr/>
          <p:nvPr/>
        </p:nvSpPr>
        <p:spPr>
          <a:xfrm>
            <a:off x="812800" y="3952019"/>
            <a:ext cx="5624909" cy="441920"/>
          </a:xfrm>
          <a:prstGeom prst="roundRect">
            <a:avLst>
              <a:gd name="adj" fmla="val 17243"/>
            </a:avLst>
          </a:prstGeom>
          <a:solidFill>
            <a:srgbClr val="F2F5F5"/>
          </a:solidFill>
          <a:ln/>
        </p:spPr>
        <p:txBody>
          <a:bodyPr wrap="square" lIns="130082" tIns="91982" rIns="0" bIns="66582" rtlCol="0" anchor="t">
            <a:normAutofit/>
          </a:bodyPr>
          <a:lstStyle/>
          <a:p>
            <a:pPr algn="l" indent="0" marL="0">
              <a:lnSpc>
                <a:spcPts val="1680"/>
              </a:lnSpc>
              <a:buNone/>
            </a:pPr>
            <a:r>
              <a:rPr lang="en-US" sz="1200" b="1" dirty="0">
                <a:solidFill>
                  <a:srgbClr val="0A6866"/>
                </a:solidFill>
                <a:latin typeface="IBM Plex Sans" pitchFamily="34" charset="0"/>
                <a:ea typeface="IBM Plex Sans" pitchFamily="34" charset="-122"/>
                <a:cs typeface="IBM Plex Sans" pitchFamily="34" charset="-120"/>
              </a:rPr>
              <a:t>5 ·</a:t>
            </a:r>
            <a:r>
              <a:rPr lang="en-US" sz="1200" dirty="0">
                <a:solidFill>
                  <a:srgbClr val="122221"/>
                </a:solidFill>
                <a:latin typeface="IBM Plex Sans" pitchFamily="34" charset="0"/>
                <a:ea typeface="IBM Plex Sans" pitchFamily="34" charset="-122"/>
                <a:cs typeface="IBM Plex Sans" pitchFamily="34" charset="-120"/>
              </a:rPr>
              <a:t> Audit and evidence storage: security, retention, recovery</a:t>
            </a:r>
            <a:endParaRPr lang="en-US" sz="1200" dirty="0"/>
          </a:p>
        </p:txBody>
      </p:sp>
      <p:sp>
        <p:nvSpPr>
          <p:cNvPr id="9" name="Text 7"/>
          <p:cNvSpPr/>
          <p:nvPr/>
        </p:nvSpPr>
        <p:spPr>
          <a:xfrm>
            <a:off x="812800" y="4495540"/>
            <a:ext cx="5793657"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221"/>
                </a:solidFill>
                <a:latin typeface="IBM Plex Sans" pitchFamily="34" charset="0"/>
                <a:ea typeface="IBM Plex Sans" pitchFamily="34" charset="-122"/>
                <a:cs typeface="IBM Plex Sans" pitchFamily="34" charset="-120"/>
              </a:rPr>
              <a:t>Risks:</a:t>
            </a:r>
            <a:r>
              <a:rPr lang="en-US" sz="1200" dirty="0">
                <a:solidFill>
                  <a:srgbClr val="3D5150"/>
                </a:solidFill>
                <a:latin typeface="IBM Plex Sans" pitchFamily="34" charset="0"/>
                <a:ea typeface="IBM Plex Sans" pitchFamily="34" charset="-122"/>
                <a:cs typeface="IBM Plex Sans" pitchFamily="34" charset="-120"/>
              </a:rPr>
              <a:t> feed delays leave money unverified; name-only payers stay manual; Finance approval becomes the bottleneck</a:t>
            </a:r>
            <a:endParaRPr lang="en-US" sz="1200" dirty="0"/>
          </a:p>
        </p:txBody>
      </p:sp>
      <p:sp>
        <p:nvSpPr>
          <p:cNvPr id="10" name="Text 8"/>
          <p:cNvSpPr/>
          <p:nvPr/>
        </p:nvSpPr>
        <p:spPr>
          <a:xfrm>
            <a:off x="6691709" y="1777938"/>
            <a:ext cx="482811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D5150"/>
                </a:solidFill>
                <a:latin typeface="IBM Plex Sans" pitchFamily="34" charset="0"/>
                <a:ea typeface="IBM Plex Sans" pitchFamily="34" charset="-122"/>
                <a:cs typeface="IBM Plex Sans" pitchFamily="34" charset="-120"/>
              </a:rPr>
              <a:t>Prototype evidence QA can rerun</a:t>
            </a:r>
            <a:endParaRPr lang="en-US" sz="1200" dirty="0"/>
          </a:p>
        </p:txBody>
      </p:sp>
      <p:sp>
        <p:nvSpPr>
          <p:cNvPr id="11" name="Shape 9"/>
          <p:cNvSpPr/>
          <p:nvPr/>
        </p:nvSpPr>
        <p:spPr>
          <a:xfrm>
            <a:off x="6691709" y="2118258"/>
            <a:ext cx="2292945" cy="919427"/>
          </a:xfrm>
          <a:prstGeom prst="roundRect">
            <a:avLst>
              <a:gd name="adj" fmla="val 8288"/>
            </a:avLst>
          </a:prstGeom>
          <a:solidFill>
            <a:srgbClr val="DCEFEE"/>
          </a:solidFill>
          <a:ln/>
        </p:spPr>
      </p:sp>
      <p:sp>
        <p:nvSpPr>
          <p:cNvPr id="12" name="Text 10"/>
          <p:cNvSpPr/>
          <p:nvPr/>
        </p:nvSpPr>
        <p:spPr>
          <a:xfrm>
            <a:off x="6844109" y="2245258"/>
            <a:ext cx="2047790" cy="452107"/>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0A6866"/>
                </a:solidFill>
                <a:latin typeface="IBM Plex Sans" pitchFamily="34" charset="0"/>
                <a:ea typeface="IBM Plex Sans" pitchFamily="34" charset="-122"/>
                <a:cs typeface="IBM Plex Sans" pitchFamily="34" charset="-120"/>
              </a:rPr>
              <a:t>27/27</a:t>
            </a:r>
            <a:endParaRPr lang="en-US" sz="2400" dirty="0"/>
          </a:p>
        </p:txBody>
      </p:sp>
      <p:sp>
        <p:nvSpPr>
          <p:cNvPr id="13" name="Text 11"/>
          <p:cNvSpPr/>
          <p:nvPr/>
        </p:nvSpPr>
        <p:spPr>
          <a:xfrm>
            <a:off x="6844109" y="2697361"/>
            <a:ext cx="20477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5150"/>
                </a:solidFill>
                <a:latin typeface="IBM Plex Sans" pitchFamily="34" charset="0"/>
                <a:ea typeface="IBM Plex Sans" pitchFamily="34" charset="-122"/>
                <a:cs typeface="IBM Plex Sans" pitchFamily="34" charset="-120"/>
              </a:rPr>
              <a:t>C# self-tests</a:t>
            </a:r>
            <a:endParaRPr lang="en-US" sz="1200" dirty="0"/>
          </a:p>
        </p:txBody>
      </p:sp>
      <p:sp>
        <p:nvSpPr>
          <p:cNvPr id="14" name="Shape 12"/>
          <p:cNvSpPr/>
          <p:nvPr/>
        </p:nvSpPr>
        <p:spPr>
          <a:xfrm>
            <a:off x="9086255" y="2118258"/>
            <a:ext cx="2292945" cy="919427"/>
          </a:xfrm>
          <a:prstGeom prst="roundRect">
            <a:avLst>
              <a:gd name="adj" fmla="val 8288"/>
            </a:avLst>
          </a:prstGeom>
          <a:solidFill>
            <a:srgbClr val="DCEFEE"/>
          </a:solidFill>
          <a:ln/>
        </p:spPr>
      </p:sp>
      <p:sp>
        <p:nvSpPr>
          <p:cNvPr id="15" name="Text 13"/>
          <p:cNvSpPr/>
          <p:nvPr/>
        </p:nvSpPr>
        <p:spPr>
          <a:xfrm>
            <a:off x="9238655" y="2245258"/>
            <a:ext cx="2047790" cy="452107"/>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0A6866"/>
                </a:solidFill>
                <a:latin typeface="IBM Plex Sans" pitchFamily="34" charset="0"/>
                <a:ea typeface="IBM Plex Sans" pitchFamily="34" charset="-122"/>
                <a:cs typeface="IBM Plex Sans" pitchFamily="34" charset="-120"/>
              </a:rPr>
              <a:t>14/14</a:t>
            </a:r>
            <a:endParaRPr lang="en-US" sz="2400" dirty="0"/>
          </a:p>
        </p:txBody>
      </p:sp>
      <p:sp>
        <p:nvSpPr>
          <p:cNvPr id="16" name="Text 14"/>
          <p:cNvSpPr/>
          <p:nvPr/>
        </p:nvSpPr>
        <p:spPr>
          <a:xfrm>
            <a:off x="9238655" y="2697361"/>
            <a:ext cx="20477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5150"/>
                </a:solidFill>
                <a:latin typeface="IBM Plex Sans" pitchFamily="34" charset="0"/>
                <a:ea typeface="IBM Plex Sans" pitchFamily="34" charset="-122"/>
                <a:cs typeface="IBM Plex Sans" pitchFamily="34" charset="-120"/>
              </a:rPr>
              <a:t>End-to-end flows</a:t>
            </a:r>
            <a:endParaRPr lang="en-US" sz="1200" dirty="0"/>
          </a:p>
        </p:txBody>
      </p:sp>
      <p:sp>
        <p:nvSpPr>
          <p:cNvPr id="17" name="Shape 15"/>
          <p:cNvSpPr/>
          <p:nvPr/>
        </p:nvSpPr>
        <p:spPr>
          <a:xfrm>
            <a:off x="6691709" y="3139281"/>
            <a:ext cx="2292945" cy="919427"/>
          </a:xfrm>
          <a:prstGeom prst="roundRect">
            <a:avLst>
              <a:gd name="adj" fmla="val 8288"/>
            </a:avLst>
          </a:prstGeom>
          <a:solidFill>
            <a:srgbClr val="DCEFEE"/>
          </a:solidFill>
          <a:ln/>
        </p:spPr>
      </p:sp>
      <p:sp>
        <p:nvSpPr>
          <p:cNvPr id="18" name="Text 16"/>
          <p:cNvSpPr/>
          <p:nvPr/>
        </p:nvSpPr>
        <p:spPr>
          <a:xfrm>
            <a:off x="6844109" y="3266281"/>
            <a:ext cx="2047790" cy="452107"/>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0A6866"/>
                </a:solidFill>
                <a:latin typeface="IBM Plex Sans" pitchFamily="34" charset="0"/>
                <a:ea typeface="IBM Plex Sans" pitchFamily="34" charset="-122"/>
                <a:cs typeface="IBM Plex Sans" pitchFamily="34" charset="-120"/>
              </a:rPr>
              <a:t>0 of 19</a:t>
            </a:r>
            <a:endParaRPr lang="en-US" sz="2400" dirty="0"/>
          </a:p>
        </p:txBody>
      </p:sp>
      <p:sp>
        <p:nvSpPr>
          <p:cNvPr id="19" name="Text 17"/>
          <p:cNvSpPr/>
          <p:nvPr/>
        </p:nvSpPr>
        <p:spPr>
          <a:xfrm>
            <a:off x="6844109" y="3718390"/>
            <a:ext cx="20477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5150"/>
                </a:solidFill>
                <a:latin typeface="IBM Plex Sans" pitchFamily="34" charset="0"/>
                <a:ea typeface="IBM Plex Sans" pitchFamily="34" charset="-122"/>
                <a:cs typeface="IBM Plex Sans" pitchFamily="34" charset="-120"/>
              </a:rPr>
              <a:t>Security checks open</a:t>
            </a:r>
            <a:endParaRPr lang="en-US" sz="1200" dirty="0"/>
          </a:p>
        </p:txBody>
      </p:sp>
      <p:sp>
        <p:nvSpPr>
          <p:cNvPr id="20" name="Shape 18"/>
          <p:cNvSpPr/>
          <p:nvPr/>
        </p:nvSpPr>
        <p:spPr>
          <a:xfrm>
            <a:off x="9086255" y="3139281"/>
            <a:ext cx="2292945" cy="919427"/>
          </a:xfrm>
          <a:prstGeom prst="roundRect">
            <a:avLst>
              <a:gd name="adj" fmla="val 8288"/>
            </a:avLst>
          </a:prstGeom>
          <a:solidFill>
            <a:srgbClr val="DCEFEE"/>
          </a:solidFill>
          <a:ln/>
        </p:spPr>
      </p:sp>
      <p:sp>
        <p:nvSpPr>
          <p:cNvPr id="21" name="Text 19"/>
          <p:cNvSpPr/>
          <p:nvPr/>
        </p:nvSpPr>
        <p:spPr>
          <a:xfrm>
            <a:off x="9238655" y="3266281"/>
            <a:ext cx="2047790" cy="452107"/>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0A6866"/>
                </a:solidFill>
                <a:latin typeface="IBM Plex Sans" pitchFamily="34" charset="0"/>
                <a:ea typeface="IBM Plex Sans" pitchFamily="34" charset="-122"/>
                <a:cs typeface="IBM Plex Sans" pitchFamily="34" charset="-120"/>
              </a:rPr>
              <a:t>20 → 1</a:t>
            </a:r>
            <a:endParaRPr lang="en-US" sz="2400" dirty="0"/>
          </a:p>
        </p:txBody>
      </p:sp>
      <p:sp>
        <p:nvSpPr>
          <p:cNvPr id="22" name="Text 20"/>
          <p:cNvSpPr/>
          <p:nvPr/>
        </p:nvSpPr>
        <p:spPr>
          <a:xfrm>
            <a:off x="9238655" y="3718390"/>
            <a:ext cx="20477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5150"/>
                </a:solidFill>
                <a:latin typeface="IBM Plex Sans" pitchFamily="34" charset="0"/>
                <a:ea typeface="IBM Plex Sans" pitchFamily="34" charset="-122"/>
                <a:cs typeface="IBM Plex Sans" pitchFamily="34" charset="-120"/>
              </a:rPr>
              <a:t>Race: one posting</a:t>
            </a:r>
            <a:endParaRPr lang="en-US" sz="1200" dirty="0"/>
          </a:p>
        </p:txBody>
      </p:sp>
      <p:sp>
        <p:nvSpPr>
          <p:cNvPr id="23" name="Text 21"/>
          <p:cNvSpPr/>
          <p:nvPr/>
        </p:nvSpPr>
        <p:spPr>
          <a:xfrm>
            <a:off x="6691709" y="4185710"/>
            <a:ext cx="4828115"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221"/>
                </a:solidFill>
                <a:latin typeface="IBM Plex Sans" pitchFamily="34" charset="0"/>
                <a:ea typeface="IBM Plex Sans" pitchFamily="34" charset="-122"/>
                <a:cs typeface="IBM Plex Sans" pitchFamily="34" charset="-120"/>
              </a:rPr>
              <a:t>Release gates:</a:t>
            </a:r>
            <a:r>
              <a:rPr lang="en-US" sz="1200" dirty="0">
                <a:solidFill>
                  <a:srgbClr val="3D5150"/>
                </a:solidFill>
                <a:latin typeface="IBM Plex Sans" pitchFamily="34" charset="0"/>
                <a:ea typeface="IBM Plex Sans" pitchFamily="34" charset="-122"/>
                <a:cs typeface="IBM Plex Sans" pitchFamily="34" charset="-120"/>
              </a:rPr>
              <a:t> 16 acceptance criteria pass · control difference ₹0 on a month of real data · Finance signs policy A-01 to A-06</a:t>
            </a:r>
            <a:endParaRPr lang="en-US" sz="1200" dirty="0"/>
          </a:p>
        </p:txBody>
      </p:sp>
      <p:sp>
        <p:nvSpPr>
          <p:cNvPr id="24" name="Text 2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D7C"/>
                </a:solidFill>
                <a:latin typeface="IBM Plex Sans" pitchFamily="34" charset="0"/>
                <a:ea typeface="IBM Plex Sans" pitchFamily="34" charset="-122"/>
                <a:cs typeface="IBM Plex Sans" pitchFamily="34" charset="-120"/>
              </a:rPr>
              <a:t>9 · Prototype is evidence of the logic, not production code; engineering owns the build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222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5BDB6"/>
                </a:solidFill>
                <a:latin typeface="IBM Plex Sans" pitchFamily="34" charset="0"/>
                <a:ea typeface="IBM Plex Sans" pitchFamily="34" charset="-122"/>
                <a:cs typeface="IBM Plex Sans" pitchFamily="34" charset="-120"/>
              </a:rPr>
              <a:t>LEADING THE TEAM, INFORMING THE FOUNDER</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2F7F6"/>
                </a:solidFill>
                <a:latin typeface="IBM Plex Sans" pitchFamily="34" charset="0"/>
                <a:ea typeface="IBM Plex Sans" pitchFamily="34" charset="-122"/>
                <a:cs typeface="IBM Plex Sans" pitchFamily="34" charset="-120"/>
              </a:rPr>
              <a:t>Coach the APM; give the founder decisions, not detail</a:t>
            </a:r>
            <a:endParaRPr lang="en-US" sz="3200" dirty="0"/>
          </a:p>
        </p:txBody>
      </p:sp>
      <p:sp>
        <p:nvSpPr>
          <p:cNvPr id="4" name="Shape 2"/>
          <p:cNvSpPr/>
          <p:nvPr/>
        </p:nvSpPr>
        <p:spPr>
          <a:xfrm>
            <a:off x="812800" y="1777938"/>
            <a:ext cx="5181600" cy="2255242"/>
          </a:xfrm>
          <a:prstGeom prst="roundRect">
            <a:avLst>
              <a:gd name="adj" fmla="val 4505"/>
            </a:avLst>
          </a:prstGeom>
          <a:solidFill>
            <a:srgbClr val="1C3331"/>
          </a:solidFill>
          <a:ln/>
        </p:spPr>
      </p:sp>
      <p:sp>
        <p:nvSpPr>
          <p:cNvPr id="5" name="Text 3"/>
          <p:cNvSpPr/>
          <p:nvPr/>
        </p:nvSpPr>
        <p:spPr>
          <a:xfrm>
            <a:off x="1041400" y="1981138"/>
            <a:ext cx="486613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55BDB6"/>
                </a:solidFill>
                <a:latin typeface="IBM Plex Sans" pitchFamily="34" charset="0"/>
                <a:ea typeface="IBM Plex Sans" pitchFamily="34" charset="-122"/>
                <a:cs typeface="IBM Plex Sans" pitchFamily="34" charset="-120"/>
              </a:rPr>
              <a:t>To the APM</a:t>
            </a:r>
            <a:endParaRPr lang="en-US" sz="1400" dirty="0"/>
          </a:p>
        </p:txBody>
      </p:sp>
      <p:sp>
        <p:nvSpPr>
          <p:cNvPr id="6" name="Text 4"/>
          <p:cNvSpPr/>
          <p:nvPr/>
        </p:nvSpPr>
        <p:spPr>
          <a:xfrm>
            <a:off x="1041400" y="2283358"/>
            <a:ext cx="49530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F7F6"/>
                </a:solidFill>
                <a:latin typeface="IBM Plex Sans" pitchFamily="34" charset="0"/>
                <a:ea typeface="IBM Plex Sans" pitchFamily="34" charset="-122"/>
                <a:cs typeface="IBM Plex Sans" pitchFamily="34" charset="-120"/>
              </a:rPr>
              <a:t>Did well:</a:t>
            </a:r>
            <a:r>
              <a:rPr lang="en-US" sz="1200" dirty="0">
                <a:solidFill>
                  <a:srgbClr val="BFD3D1"/>
                </a:solidFill>
                <a:latin typeface="IBM Plex Sans" pitchFamily="34" charset="0"/>
                <a:ea typeface="IBM Plex Sans" pitchFamily="34" charset="-122"/>
                <a:cs typeface="IBM Plex Sans" pitchFamily="34" charset="-120"/>
              </a:rPr>
              <a:t> named the users, captured the pain, kept the scope small</a:t>
            </a:r>
            <a:endParaRPr lang="en-US" sz="1200" dirty="0"/>
          </a:p>
        </p:txBody>
      </p:sp>
      <p:sp>
        <p:nvSpPr>
          <p:cNvPr id="7" name="Text 5"/>
          <p:cNvSpPr/>
          <p:nvPr/>
        </p:nvSpPr>
        <p:spPr>
          <a:xfrm>
            <a:off x="1041400" y="2585579"/>
            <a:ext cx="4866132"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F7F6"/>
                </a:solidFill>
                <a:latin typeface="IBM Plex Sans" pitchFamily="34" charset="0"/>
                <a:ea typeface="IBM Plex Sans" pitchFamily="34" charset="-122"/>
                <a:cs typeface="IBM Plex Sans" pitchFamily="34" charset="-120"/>
              </a:rPr>
              <a:t>Fix:</a:t>
            </a:r>
            <a:r>
              <a:rPr lang="en-US" sz="1200" dirty="0">
                <a:solidFill>
                  <a:srgbClr val="BFD3D1"/>
                </a:solidFill>
                <a:latin typeface="IBM Plex Sans" pitchFamily="34" charset="0"/>
                <a:ea typeface="IBM Plex Sans" pitchFamily="34" charset="-122"/>
                <a:cs typeface="IBM Plex Sans" pitchFamily="34" charset="-120"/>
              </a:rPr>
              <a:t> verify before allocating · split the status · no deletes · two people per approval · define duplicates</a:t>
            </a:r>
            <a:endParaRPr lang="en-US" sz="1200" dirty="0"/>
          </a:p>
        </p:txBody>
      </p:sp>
      <p:sp>
        <p:nvSpPr>
          <p:cNvPr id="8" name="Text 6"/>
          <p:cNvSpPr/>
          <p:nvPr/>
        </p:nvSpPr>
        <p:spPr>
          <a:xfrm>
            <a:off x="1041400" y="3101119"/>
            <a:ext cx="4866132"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F7F6"/>
                </a:solidFill>
                <a:latin typeface="IBM Plex Sans" pitchFamily="34" charset="0"/>
                <a:ea typeface="IBM Plex Sans" pitchFamily="34" charset="-122"/>
                <a:cs typeface="IBM Plex Sans" pitchFamily="34" charset="-120"/>
              </a:rPr>
              <a:t>Send back:</a:t>
            </a:r>
            <a:r>
              <a:rPr lang="en-US" sz="1200" dirty="0">
                <a:solidFill>
                  <a:srgbClr val="BFD3D1"/>
                </a:solidFill>
                <a:latin typeface="IBM Plex Sans" pitchFamily="34" charset="0"/>
                <a:ea typeface="IBM Plex Sans" pitchFamily="34" charset="-122"/>
                <a:cs typeface="IBM Plex Sans" pitchFamily="34" charset="-120"/>
              </a:rPr>
              <a:t> rewrite P2, P5, P7 and P9 with what would conclude each</a:t>
            </a:r>
            <a:endParaRPr lang="en-US" sz="1200" dirty="0"/>
          </a:p>
        </p:txBody>
      </p:sp>
      <p:sp>
        <p:nvSpPr>
          <p:cNvPr id="9" name="Text 7"/>
          <p:cNvSpPr/>
          <p:nvPr/>
        </p:nvSpPr>
        <p:spPr>
          <a:xfrm>
            <a:off x="1041400" y="3616660"/>
            <a:ext cx="48661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F7F6"/>
                </a:solidFill>
                <a:latin typeface="IBM Plex Sans" pitchFamily="34" charset="0"/>
                <a:ea typeface="IBM Plex Sans" pitchFamily="34" charset="-122"/>
                <a:cs typeface="IBM Plex Sans" pitchFamily="34" charset="-120"/>
              </a:rPr>
              <a:t>I own:</a:t>
            </a:r>
            <a:r>
              <a:rPr lang="en-US" sz="1200" dirty="0">
                <a:solidFill>
                  <a:srgbClr val="BFD3D1"/>
                </a:solidFill>
                <a:latin typeface="IBM Plex Sans" pitchFamily="34" charset="0"/>
                <a:ea typeface="IBM Plex Sans" pitchFamily="34" charset="-122"/>
                <a:cs typeface="IBM Plex Sans" pitchFamily="34" charset="-120"/>
              </a:rPr>
              <a:t> the control model and Finance sign-off</a:t>
            </a:r>
            <a:endParaRPr lang="en-US" sz="1200" dirty="0"/>
          </a:p>
        </p:txBody>
      </p:sp>
      <p:sp>
        <p:nvSpPr>
          <p:cNvPr id="10" name="Shape 8"/>
          <p:cNvSpPr/>
          <p:nvPr/>
        </p:nvSpPr>
        <p:spPr>
          <a:xfrm>
            <a:off x="6197600" y="1777938"/>
            <a:ext cx="5181600" cy="2255242"/>
          </a:xfrm>
          <a:prstGeom prst="roundRect">
            <a:avLst>
              <a:gd name="adj" fmla="val 4505"/>
            </a:avLst>
          </a:prstGeom>
          <a:solidFill>
            <a:srgbClr val="F2F5F5"/>
          </a:solidFill>
          <a:ln/>
        </p:spPr>
      </p:sp>
      <p:sp>
        <p:nvSpPr>
          <p:cNvPr id="11" name="Text 9"/>
          <p:cNvSpPr/>
          <p:nvPr/>
        </p:nvSpPr>
        <p:spPr>
          <a:xfrm>
            <a:off x="6426200" y="2006538"/>
            <a:ext cx="140738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22221"/>
                </a:solidFill>
                <a:latin typeface="IBM Plex Sans" pitchFamily="34" charset="0"/>
                <a:ea typeface="IBM Plex Sans" pitchFamily="34" charset="-122"/>
                <a:cs typeface="IBM Plex Sans" pitchFamily="34" charset="-120"/>
              </a:rPr>
              <a:t>Founder update</a:t>
            </a:r>
            <a:endParaRPr lang="en-US" sz="1400" dirty="0"/>
          </a:p>
        </p:txBody>
      </p:sp>
      <p:sp>
        <p:nvSpPr>
          <p:cNvPr id="12" name="Text 10"/>
          <p:cNvSpPr/>
          <p:nvPr/>
        </p:nvSpPr>
        <p:spPr>
          <a:xfrm>
            <a:off x="7833585" y="1981138"/>
            <a:ext cx="677333" cy="264120"/>
          </a:xfrm>
          <a:custGeom>
            <a:avLst/>
            <a:gdLst/>
            <a:ahLst/>
            <a:cxnLst/>
            <a:rect l="l" t="t" r="r" b="b"/>
            <a:pathLst>
              <a:path w="677333" h="264120">
                <a:moveTo>
                  <a:pt x="132060" y="0"/>
                </a:moveTo>
                <a:lnTo>
                  <a:pt x="545273" y="0"/>
                </a:lnTo>
                <a:arcTo hR="132060" wR="132060" stAng="16200000" swAng="5400000"/>
                <a:lnTo>
                  <a:pt x="677333" y="132060"/>
                </a:lnTo>
                <a:arcTo hR="132060" wR="132060" stAng="0" swAng="5400000"/>
                <a:lnTo>
                  <a:pt x="132060" y="264120"/>
                </a:lnTo>
                <a:arcTo hR="132060" wR="132060" stAng="5400000" swAng="5400000"/>
                <a:lnTo>
                  <a:pt x="0" y="132060"/>
                </a:lnTo>
                <a:arcTo hR="132060" wR="132060" stAng="10800000" swAng="5400000"/>
                <a:close/>
              </a:path>
            </a:pathLst>
          </a:custGeom>
          <a:solidFill>
            <a:srgbClr val="FBEFD9"/>
          </a:solidFill>
          <a:ln/>
        </p:spPr>
        <p:txBody>
          <a:bodyPr wrap="none" lIns="0" tIns="0" rIns="0" bIns="0" rtlCol="0" anchor="ctr">
            <a:normAutofit/>
          </a:bodyPr>
          <a:lstStyle/>
          <a:p>
            <a:pPr algn="ctr" indent="0" marL="0">
              <a:lnSpc>
                <a:spcPts val="1680"/>
              </a:lnSpc>
              <a:buNone/>
            </a:pPr>
            <a:r>
              <a:rPr lang="en-US" sz="1200" b="1" dirty="0">
                <a:solidFill>
                  <a:srgbClr val="8A5300"/>
                </a:solidFill>
                <a:latin typeface="IBM Plex Sans" pitchFamily="34" charset="0"/>
                <a:ea typeface="IBM Plex Sans" pitchFamily="34" charset="-122"/>
                <a:cs typeface="IBM Plex Sans" pitchFamily="34" charset="-120"/>
              </a:rPr>
              <a:t>Amber</a:t>
            </a:r>
            <a:endParaRPr lang="en-US" sz="1200" dirty="0"/>
          </a:p>
        </p:txBody>
      </p:sp>
      <p:sp>
        <p:nvSpPr>
          <p:cNvPr id="13" name="Text 11"/>
          <p:cNvSpPr/>
          <p:nvPr/>
        </p:nvSpPr>
        <p:spPr>
          <a:xfrm>
            <a:off x="8612518" y="2006538"/>
            <a:ext cx="8630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D7C"/>
                </a:solidFill>
                <a:latin typeface="IBM Plex Sans" pitchFamily="34" charset="0"/>
                <a:ea typeface="IBM Plex Sans" pitchFamily="34" charset="-122"/>
                <a:cs typeface="IBM Plex Sans" pitchFamily="34" charset="-120"/>
              </a:rPr>
              <a:t>illustrative</a:t>
            </a:r>
            <a:endParaRPr lang="en-US" sz="1200" dirty="0"/>
          </a:p>
        </p:txBody>
      </p:sp>
      <p:sp>
        <p:nvSpPr>
          <p:cNvPr id="14" name="Text 12"/>
          <p:cNvSpPr/>
          <p:nvPr/>
        </p:nvSpPr>
        <p:spPr>
          <a:xfrm>
            <a:off x="6426200" y="2334158"/>
            <a:ext cx="48661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221"/>
                </a:solidFill>
                <a:latin typeface="IBM Plex Sans" pitchFamily="34" charset="0"/>
                <a:ea typeface="IBM Plex Sans" pitchFamily="34" charset="-122"/>
                <a:cs typeface="IBM Plex Sans" pitchFamily="34" charset="-120"/>
              </a:rPr>
              <a:t>Done:</a:t>
            </a:r>
            <a:r>
              <a:rPr lang="en-US" sz="1200" dirty="0">
                <a:solidFill>
                  <a:srgbClr val="3D5150"/>
                </a:solidFill>
                <a:latin typeface="IBM Plex Sans" pitchFamily="34" charset="0"/>
                <a:ea typeface="IBM Plex Sans" pitchFamily="34" charset="-122"/>
                <a:cs typeface="IBM Plex Sans" pitchFamily="34" charset="-120"/>
              </a:rPr>
              <a:t> spec reworked; working prototype passes all tests</a:t>
            </a:r>
            <a:endParaRPr lang="en-US" sz="1200" dirty="0"/>
          </a:p>
        </p:txBody>
      </p:sp>
      <p:sp>
        <p:nvSpPr>
          <p:cNvPr id="15" name="Text 13"/>
          <p:cNvSpPr/>
          <p:nvPr/>
        </p:nvSpPr>
        <p:spPr>
          <a:xfrm>
            <a:off x="6426200" y="2636379"/>
            <a:ext cx="48661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221"/>
                </a:solidFill>
                <a:latin typeface="IBM Plex Sans" pitchFamily="34" charset="0"/>
                <a:ea typeface="IBM Plex Sans" pitchFamily="34" charset="-122"/>
                <a:cs typeface="IBM Plex Sans" pitchFamily="34" charset="-120"/>
              </a:rPr>
              <a:t>Risk:</a:t>
            </a:r>
            <a:r>
              <a:rPr lang="en-US" sz="1200" dirty="0">
                <a:solidFill>
                  <a:srgbClr val="3D5150"/>
                </a:solidFill>
                <a:latin typeface="IBM Plex Sans" pitchFamily="34" charset="0"/>
                <a:ea typeface="IBM Plex Sans" pitchFamily="34" charset="-122"/>
                <a:cs typeface="IBM Plex Sans" pitchFamily="34" charset="-120"/>
              </a:rPr>
              <a:t> no policy owner means no launch date</a:t>
            </a:r>
            <a:endParaRPr lang="en-US" sz="1200" dirty="0"/>
          </a:p>
        </p:txBody>
      </p:sp>
      <p:sp>
        <p:nvSpPr>
          <p:cNvPr id="16" name="Text 14"/>
          <p:cNvSpPr/>
          <p:nvPr/>
        </p:nvSpPr>
        <p:spPr>
          <a:xfrm>
            <a:off x="6426200" y="2938599"/>
            <a:ext cx="4866132"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221"/>
                </a:solidFill>
                <a:latin typeface="IBM Plex Sans" pitchFamily="34" charset="0"/>
                <a:ea typeface="IBM Plex Sans" pitchFamily="34" charset="-122"/>
                <a:cs typeface="IBM Plex Sans" pitchFamily="34" charset="-120"/>
              </a:rPr>
              <a:t>Ask 1:</a:t>
            </a:r>
            <a:r>
              <a:rPr lang="en-US" sz="1200" dirty="0">
                <a:solidFill>
                  <a:srgbClr val="3D5150"/>
                </a:solidFill>
                <a:latin typeface="IBM Plex Sans" pitchFamily="34" charset="0"/>
                <a:ea typeface="IBM Plex Sans" pitchFamily="34" charset="-122"/>
                <a:cs typeface="IBM Plex Sans" pitchFamily="34" charset="-120"/>
              </a:rPr>
              <a:t> name the Finance Controller as policy owner; sign-off by Friday</a:t>
            </a:r>
            <a:endParaRPr lang="en-US" sz="1200" dirty="0"/>
          </a:p>
        </p:txBody>
      </p:sp>
      <p:sp>
        <p:nvSpPr>
          <p:cNvPr id="17" name="Text 15"/>
          <p:cNvSpPr/>
          <p:nvPr/>
        </p:nvSpPr>
        <p:spPr>
          <a:xfrm>
            <a:off x="6426200" y="3454140"/>
            <a:ext cx="48661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221"/>
                </a:solidFill>
                <a:latin typeface="IBM Plex Sans" pitchFamily="34" charset="0"/>
                <a:ea typeface="IBM Plex Sans" pitchFamily="34" charset="-122"/>
                <a:cs typeface="IBM Plex Sans" pitchFamily="34" charset="-120"/>
              </a:rPr>
              <a:t>Ask 2:</a:t>
            </a:r>
            <a:r>
              <a:rPr lang="en-US" sz="1200" dirty="0">
                <a:solidFill>
                  <a:srgbClr val="3D5150"/>
                </a:solidFill>
                <a:latin typeface="IBM Plex Sans" pitchFamily="34" charset="0"/>
                <a:ea typeface="IBM Plex Sans" pitchFamily="34" charset="-122"/>
                <a:cs typeface="IBM Plex Sans" pitchFamily="34" charset="-120"/>
              </a:rPr>
              <a:t> yes or no on virtual accounts per student for phase 2</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AA8"/>
                </a:solidFill>
                <a:latin typeface="IBM Plex Sans" pitchFamily="34" charset="0"/>
                <a:ea typeface="IBM Plex Sans" pitchFamily="34" charset="-122"/>
                <a:cs typeface="IBM Plex Sans" pitchFamily="34" charset="-120"/>
              </a:rPr>
              <a:t>10 · Phase 2: virtual account per student removes name-only matching at the source</a:t>
            </a:r>
            <a:endParaRPr lang="en-US" sz="1200" dirty="0"/>
          </a:p>
        </p:txBody>
      </p:sp>
    </p:spTree>
  </p:cSld>
  <p:clrMapOvr>
    <a:masterClrMapping/>
  </p:clrMapOvr>
</p:sld>
</file>

<file path=ppt/theme/theme1.xml><?xml version="1.0" encoding="utf-8"?>
<a:theme xmlns:a="http://schemas.openxmlformats.org/drawingml/2006/main" name="Fee Matching: From APM Draft to Development-Ready">
  <a:themeElements>
    <a:clrScheme name="Fee Matching: From APM Draft to Development-Ready">
      <a:dk1>
        <a:srgbClr val="122221"/>
      </a:dk1>
      <a:lt1>
        <a:srgbClr val="F2F5F5"/>
      </a:lt1>
      <a:dk2>
        <a:srgbClr val="4A5756"/>
      </a:dk2>
      <a:lt2>
        <a:srgbClr val="DCE0E0"/>
      </a:lt2>
      <a:accent1>
        <a:srgbClr val="0A6866"/>
      </a:accent1>
      <a:accent2>
        <a:srgbClr val="55BDB6"/>
      </a:accent2>
      <a:accent3>
        <a:srgbClr val="8A5300"/>
      </a:accent3>
      <a:accent4>
        <a:srgbClr val="AD2A20"/>
      </a:accent4>
      <a:accent5>
        <a:srgbClr val="3D5150"/>
      </a:accent5>
      <a:accent6>
        <a:srgbClr val="6A7D7C"/>
      </a:accent6>
      <a:hlink>
        <a:srgbClr val="0563C1"/>
      </a:hlink>
      <a:folHlink>
        <a:srgbClr val="954F72"/>
      </a:folHlink>
    </a:clrScheme>
    <a:fontScheme name="Fee Matching: From APM Draft to Development-Ready">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Fee Matching: From APM Draft to Development-Ready</dc:title>
  <dc:subject/>
  <dc:creator/>
  <cp:lastModifiedBy/>
  <cp:revision>1</cp:revision>
  <dcterms:created xsi:type="dcterms:W3CDTF">2026-10-27T13:24:11Z</dcterms:created>
  <dcterms:modified xsi:type="dcterms:W3CDTF">2026-10-27T13:24:11Z</dcterms:modified>
</cp:coreProperties>
</file>